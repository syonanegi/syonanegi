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8" r:id="rId4"/>
  </p:sldMasterIdLst>
  <p:sldIdLst>
    <p:sldId id="256" r:id="rId5"/>
    <p:sldId id="259" r:id="rId6"/>
    <p:sldId id="258" r:id="rId7"/>
    <p:sldId id="257" r:id="rId8"/>
    <p:sldId id="262" r:id="rId9"/>
    <p:sldId id="263" r:id="rId10"/>
    <p:sldId id="264" r:id="rId11"/>
    <p:sldId id="265" r:id="rId12"/>
    <p:sldId id="260" r:id="rId13"/>
    <p:sldId id="261"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0B1E94-B378-4EDE-93DF-A85906262A2F}" v="1160" dt="2025-09-29T02:07:31.6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55" autoAdjust="0"/>
    <p:restoredTop sz="94660"/>
  </p:normalViewPr>
  <p:slideViewPr>
    <p:cSldViewPr snapToGrid="0">
      <p:cViewPr varScale="1">
        <p:scale>
          <a:sx n="49" d="100"/>
          <a:sy n="49" d="100"/>
        </p:scale>
        <p:origin x="630" y="42"/>
      </p:cViewPr>
      <p:guideLst/>
    </p:cSldViewPr>
  </p:slideViewPr>
  <p:notesTextViewPr>
    <p:cViewPr>
      <p:scale>
        <a:sx n="1" d="1"/>
        <a:sy n="1" d="1"/>
      </p:scale>
      <p:origin x="0" y="0"/>
    </p:cViewPr>
  </p:notesTextViewPr>
  <p:sorterViewPr>
    <p:cViewPr>
      <p:scale>
        <a:sx n="100" d="100"/>
        <a:sy n="100" d="100"/>
      </p:scale>
      <p:origin x="0" y="-72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9/29/2025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53000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9/29/2025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54590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9/29/2025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16943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9/29/2025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441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9/29/2025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9896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9/29/2025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38776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9/29/2025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47270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9/29/2025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19424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9/29/2025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70839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9/29/2025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03729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9/29/2025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19314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9/29/2025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606609114"/>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1" r:id="rId6"/>
    <p:sldLayoutId id="2147483777" r:id="rId7"/>
    <p:sldLayoutId id="2147483778" r:id="rId8"/>
    <p:sldLayoutId id="2147483779" r:id="rId9"/>
    <p:sldLayoutId id="2147483780" r:id="rId10"/>
    <p:sldLayoutId id="2147483782"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datacommons.org/place/country/GRC?utm_medium=explore&amp;mprop=amount&amp;popt=EconomicActivity&amp;cpv=activitySource%2CGrossDomesticProduction&amp;hl=en" TargetMode="External"/><Relationship Id="rId3" Type="http://schemas.openxmlformats.org/officeDocument/2006/relationships/hyperlink" Target="https://www.rescue.org/sites/default/files/2022-09/IRC_Hellas_Afghans_in_Greece_EN_0.pdf" TargetMode="External"/><Relationship Id="rId7" Type="http://schemas.openxmlformats.org/officeDocument/2006/relationships/hyperlink" Target="https://www.statistics.gr/documents/20181/18166418/Annual+Agricultural+Statistical+Survey+(Final+Results)+(+2020+).pdf/ba0e1942-afaf-12b2-1984-e065f6bd3d72?t=1693558783605" TargetMode="Externa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hyperlink" Target="https://mixedmigration.org/wp-content/uploads/2023/03/266_Changing-Dynamics-Afghan-Migration.pdf" TargetMode="External"/><Relationship Id="rId5" Type="http://schemas.openxmlformats.org/officeDocument/2006/relationships/hyperlink" Target="https://asylumineurope.org/reports/country/greece/asylum-procedure/the-safe-country-concepts/safe-third-country/" TargetMode="External"/><Relationship Id="rId4" Type="http://schemas.openxmlformats.org/officeDocument/2006/relationships/hyperlink" Target="https://www.impact-initiatives.org/stories/migration-a-study-on-afghan-returnees-from-europe-their-motivations-and-challenges-to-reintegr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rendering of a colored world map">
            <a:extLst>
              <a:ext uri="{FF2B5EF4-FFF2-40B4-BE49-F238E27FC236}">
                <a16:creationId xmlns:a16="http://schemas.microsoft.com/office/drawing/2014/main" id="{0AD13503-033D-9971-4080-A898DF0AF28C}"/>
              </a:ext>
            </a:extLst>
          </p:cNvPr>
          <p:cNvPicPr>
            <a:picLocks noChangeAspect="1"/>
          </p:cNvPicPr>
          <p:nvPr/>
        </p:nvPicPr>
        <p:blipFill>
          <a:blip r:embed="rId2">
            <a:alphaModFix amt="60000"/>
          </a:blip>
          <a:srcRect t="1260" b="17805"/>
          <a:stretch>
            <a:fillRect/>
          </a:stretch>
        </p:blipFill>
        <p:spPr>
          <a:xfrm>
            <a:off x="1" y="1"/>
            <a:ext cx="12192000" cy="6857999"/>
          </a:xfrm>
          <a:prstGeom prst="rect">
            <a:avLst/>
          </a:prstGeom>
        </p:spPr>
      </p:pic>
      <p:sp>
        <p:nvSpPr>
          <p:cNvPr id="2" name="Title 1">
            <a:extLst>
              <a:ext uri="{FF2B5EF4-FFF2-40B4-BE49-F238E27FC236}">
                <a16:creationId xmlns:a16="http://schemas.microsoft.com/office/drawing/2014/main" id="{08994012-13A4-C412-8897-D0BF5BE8A833}"/>
              </a:ext>
            </a:extLst>
          </p:cNvPr>
          <p:cNvSpPr>
            <a:spLocks noGrp="1"/>
          </p:cNvSpPr>
          <p:nvPr>
            <p:ph type="ctrTitle"/>
          </p:nvPr>
        </p:nvSpPr>
        <p:spPr>
          <a:xfrm>
            <a:off x="2301923" y="1482602"/>
            <a:ext cx="7588155" cy="2236264"/>
          </a:xfrm>
        </p:spPr>
        <p:txBody>
          <a:bodyPr>
            <a:normAutofit/>
          </a:bodyPr>
          <a:lstStyle/>
          <a:p>
            <a:r>
              <a:rPr lang="en-US" sz="5400" b="0" dirty="0">
                <a:solidFill>
                  <a:srgbClr val="FFFFFF"/>
                </a:solidFill>
                <a:latin typeface="Times New Roman" panose="02020603050405020304" pitchFamily="18" charset="0"/>
                <a:cs typeface="Times New Roman" panose="02020603050405020304" pitchFamily="18" charset="0"/>
              </a:rPr>
              <a:t>Group Immigration in Greece</a:t>
            </a:r>
          </a:p>
        </p:txBody>
      </p:sp>
      <p:sp>
        <p:nvSpPr>
          <p:cNvPr id="3" name="Subtitle 2">
            <a:extLst>
              <a:ext uri="{FF2B5EF4-FFF2-40B4-BE49-F238E27FC236}">
                <a16:creationId xmlns:a16="http://schemas.microsoft.com/office/drawing/2014/main" id="{2BBB3DDC-7B82-F2A3-A39A-0C2B968290D9}"/>
              </a:ext>
            </a:extLst>
          </p:cNvPr>
          <p:cNvSpPr>
            <a:spLocks noGrp="1"/>
          </p:cNvSpPr>
          <p:nvPr>
            <p:ph type="subTitle" idx="1"/>
          </p:nvPr>
        </p:nvSpPr>
        <p:spPr>
          <a:xfrm>
            <a:off x="2301923" y="3793937"/>
            <a:ext cx="7588155" cy="1414091"/>
          </a:xfrm>
        </p:spPr>
        <p:txBody>
          <a:bodyPr>
            <a:normAutofit/>
          </a:bodyPr>
          <a:lstStyle/>
          <a:p>
            <a:r>
              <a:rPr lang="en-US" sz="2400" dirty="0">
                <a:solidFill>
                  <a:srgbClr val="FFFFFF"/>
                </a:solidFill>
                <a:latin typeface="Times New Roman" panose="02020603050405020304" pitchFamily="18" charset="0"/>
                <a:cs typeface="Times New Roman" panose="02020603050405020304" pitchFamily="18" charset="0"/>
              </a:rPr>
              <a:t>The Story of Afghan Asylum-Seekers</a:t>
            </a:r>
          </a:p>
          <a:p>
            <a:r>
              <a:rPr lang="en-US" sz="2400" dirty="0">
                <a:solidFill>
                  <a:srgbClr val="FFFFFF"/>
                </a:solidFill>
                <a:latin typeface="Times New Roman" panose="02020603050405020304" pitchFamily="18" charset="0"/>
                <a:cs typeface="Times New Roman" panose="02020603050405020304" pitchFamily="18" charset="0"/>
              </a:rPr>
              <a:t>By Syona Negi</a:t>
            </a:r>
          </a:p>
        </p:txBody>
      </p:sp>
    </p:spTree>
    <p:extLst>
      <p:ext uri="{BB962C8B-B14F-4D97-AF65-F5344CB8AC3E}">
        <p14:creationId xmlns:p14="http://schemas.microsoft.com/office/powerpoint/2010/main" val="10340251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omen face daily dangers in Greek refugee camps">
            <a:extLst>
              <a:ext uri="{FF2B5EF4-FFF2-40B4-BE49-F238E27FC236}">
                <a16:creationId xmlns:a16="http://schemas.microsoft.com/office/drawing/2014/main" id="{91140B96-BB23-D565-A4DF-1333CF2DDD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solidFill>
            <a:schemeClr val="tx1"/>
          </a:solidFill>
          <a:ln>
            <a:noFill/>
          </a:ln>
        </p:spPr>
      </p:pic>
      <p:sp>
        <p:nvSpPr>
          <p:cNvPr id="2" name="Title 1">
            <a:extLst>
              <a:ext uri="{FF2B5EF4-FFF2-40B4-BE49-F238E27FC236}">
                <a16:creationId xmlns:a16="http://schemas.microsoft.com/office/drawing/2014/main" id="{C287432D-A964-3DF7-A89B-09D292D14304}"/>
              </a:ext>
            </a:extLst>
          </p:cNvPr>
          <p:cNvSpPr>
            <a:spLocks noGrp="1"/>
          </p:cNvSpPr>
          <p:nvPr>
            <p:ph type="title"/>
          </p:nvPr>
        </p:nvSpPr>
        <p:spPr>
          <a:xfrm>
            <a:off x="612648" y="783290"/>
            <a:ext cx="10653578" cy="767204"/>
          </a:xfrm>
        </p:spPr>
        <p:txBody>
          <a:bodyPr>
            <a:noAutofit/>
          </a:bodyPr>
          <a:lstStyle/>
          <a:p>
            <a:pPr algn="ctr"/>
            <a:r>
              <a:rPr lang="en-US" sz="5400" b="0" dirty="0">
                <a:solidFill>
                  <a:schemeClr val="bg1"/>
                </a:solidFill>
                <a:latin typeface="Times New Roman" panose="02020603050405020304" pitchFamily="18" charset="0"/>
                <a:cs typeface="Times New Roman" panose="02020603050405020304" pitchFamily="18" charset="0"/>
              </a:rPr>
              <a:t>Afghan asylum-seeker’s Journey</a:t>
            </a:r>
          </a:p>
        </p:txBody>
      </p:sp>
      <p:sp>
        <p:nvSpPr>
          <p:cNvPr id="3" name="Content Placeholder 2">
            <a:extLst>
              <a:ext uri="{FF2B5EF4-FFF2-40B4-BE49-F238E27FC236}">
                <a16:creationId xmlns:a16="http://schemas.microsoft.com/office/drawing/2014/main" id="{90DC72C3-E19D-2F87-B3B9-7FB5A587BCE2}"/>
              </a:ext>
            </a:extLst>
          </p:cNvPr>
          <p:cNvSpPr>
            <a:spLocks noGrp="1"/>
          </p:cNvSpPr>
          <p:nvPr>
            <p:ph idx="1"/>
          </p:nvPr>
        </p:nvSpPr>
        <p:spPr/>
        <p:txBody>
          <a:bodyPr/>
          <a:lstStyle/>
          <a:p>
            <a:pPr marL="0" indent="0">
              <a:buNone/>
            </a:pPr>
            <a:r>
              <a:rPr lang="en-US" dirty="0">
                <a:solidFill>
                  <a:schemeClr val="bg1"/>
                </a:solidFill>
              </a:rPr>
              <a:t>	</a:t>
            </a:r>
            <a:r>
              <a:rPr lang="en-US" sz="2200" dirty="0">
                <a:solidFill>
                  <a:schemeClr val="bg1"/>
                </a:solidFill>
                <a:latin typeface="Times New Roman" panose="02020603050405020304" pitchFamily="18" charset="0"/>
                <a:cs typeface="Times New Roman" panose="02020603050405020304" pitchFamily="18" charset="0"/>
              </a:rPr>
              <a:t>In 2021, the Taliban took over Kabul, leading insecurity and violence into the country’s borders. This push factor compelled Afghans to seek refuge in  Europe, starting step migration towards safer countries. Their journey began through Iran and Turkey which took about 20 days then traveled by boat to Greece or Italy. Afghans awaiting entrance would stay in camps on Greece’s many refugee camps. These camps had poor hygiene and low sanitation methods. Greece had already experienced mass migration from recent years and deemed Turkey suitable for migration and settling. This policy did not halt the flow of immigrants traveling to Greece, reaching 3,260 applications while only 41% were accepted. Afghan migrants who were not accepted were in a “legal limbo” not being able to return to Turkey or reapply. </a:t>
            </a:r>
          </a:p>
        </p:txBody>
      </p:sp>
    </p:spTree>
    <p:extLst>
      <p:ext uri="{BB962C8B-B14F-4D97-AF65-F5344CB8AC3E}">
        <p14:creationId xmlns:p14="http://schemas.microsoft.com/office/powerpoint/2010/main" val="16245893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87" name="Rectangle 2086">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Net internal migration rate (%), Greece, 1996-2001 | Download Scientific  Diagram">
            <a:extLst>
              <a:ext uri="{FF2B5EF4-FFF2-40B4-BE49-F238E27FC236}">
                <a16:creationId xmlns:a16="http://schemas.microsoft.com/office/drawing/2014/main" id="{D17B9DFB-616F-C75F-4EAF-BE860912850C}"/>
              </a:ext>
            </a:extLst>
          </p:cNvPr>
          <p:cNvPicPr>
            <a:picLocks noChangeAspect="1" noChangeArrowheads="1"/>
          </p:cNvPicPr>
          <p:nvPr/>
        </p:nvPicPr>
        <p:blipFill>
          <a:blip r:embed="rId2">
            <a:alphaModFix amt="60000"/>
            <a:extLst>
              <a:ext uri="{28A0092B-C50C-407E-A947-70E740481C1C}">
                <a14:useLocalDpi xmlns:a14="http://schemas.microsoft.com/office/drawing/2010/main" val="0"/>
              </a:ext>
            </a:extLst>
          </a:blip>
          <a:srcRect b="2597"/>
          <a:stretch>
            <a:fillRect/>
          </a:stretch>
        </p:blipFill>
        <p:spPr bwMode="auto">
          <a:xfrm>
            <a:off x="0" y="1"/>
            <a:ext cx="12192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a:extLst>
              <a:ext uri="{FF2B5EF4-FFF2-40B4-BE49-F238E27FC236}">
                <a16:creationId xmlns:a16="http://schemas.microsoft.com/office/drawing/2014/main" id="{93943B0B-5AB4-FCFB-F2C2-B636CA3F2AAD}"/>
              </a:ext>
            </a:extLst>
          </p:cNvPr>
          <p:cNvSpPr txBox="1">
            <a:spLocks/>
          </p:cNvSpPr>
          <p:nvPr/>
        </p:nvSpPr>
        <p:spPr>
          <a:xfrm>
            <a:off x="838201" y="1759321"/>
            <a:ext cx="10291354" cy="4521699"/>
          </a:xfrm>
          <a:prstGeom prst="rect">
            <a:avLst/>
          </a:prstGeom>
        </p:spPr>
        <p:txBody>
          <a:bodyPr vert="horz" lIns="91440" tIns="45720" rIns="91440" bIns="45720" rtlCol="0">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spcBef>
                <a:spcPts val="1000"/>
              </a:spcBef>
            </a:pPr>
            <a:r>
              <a:rPr lang="en-US" sz="2200" b="0" dirty="0">
                <a:solidFill>
                  <a:srgbClr val="FFFFFF"/>
                </a:solidFill>
                <a:latin typeface="Times New Roman" panose="02020603050405020304" pitchFamily="18" charset="0"/>
                <a:ea typeface="+mn-ea"/>
                <a:cs typeface="Times New Roman" panose="02020603050405020304" pitchFamily="18" charset="0"/>
              </a:rPr>
              <a:t>	Greece has experienced a heavy period of emigration where people fleeing from the communist regime seek shelter in other countries. Greece provided for these refugees in closer proximity and had a higher standard of living; it was a prime opportunity for refugees to become self-employed and start businesses in Athens. Afghan refugees have suffered through generations of war, a weak economy, poverty, etc.: all causes for their will to migrate out of Afghanistan. Afghans became one of the largest group applying for asylum in Greece as an entrance into Europe; however, many groups were rejected in a period(July to September of 2021) where Greece refused to recognize most asylum-seekers who applied. In March of 2022, Greece changed its policies to an acceptance rate of 95%, increasing the quota of immigrants. </a:t>
            </a:r>
          </a:p>
        </p:txBody>
      </p:sp>
      <p:sp>
        <p:nvSpPr>
          <p:cNvPr id="7" name="AutoShape 6" descr="Migrant family's presence on Greek island hints at pushbacks | AP News">
            <a:extLst>
              <a:ext uri="{FF2B5EF4-FFF2-40B4-BE49-F238E27FC236}">
                <a16:creationId xmlns:a16="http://schemas.microsoft.com/office/drawing/2014/main" id="{2E3FA34E-FBC4-5C72-3CD6-7CFF1A3FD197}"/>
              </a:ext>
            </a:extLst>
          </p:cNvPr>
          <p:cNvSpPr>
            <a:spLocks noChangeAspect="1" noChangeArrowheads="1"/>
          </p:cNvSpPr>
          <p:nvPr/>
        </p:nvSpPr>
        <p:spPr bwMode="auto">
          <a:xfrm>
            <a:off x="5562599" y="3118471"/>
            <a:ext cx="2379617" cy="253825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itle 2">
            <a:extLst>
              <a:ext uri="{FF2B5EF4-FFF2-40B4-BE49-F238E27FC236}">
                <a16:creationId xmlns:a16="http://schemas.microsoft.com/office/drawing/2014/main" id="{C37CB480-2C43-2A15-9162-3190447894C2}"/>
              </a:ext>
            </a:extLst>
          </p:cNvPr>
          <p:cNvSpPr>
            <a:spLocks noGrp="1"/>
          </p:cNvSpPr>
          <p:nvPr>
            <p:ph type="title"/>
          </p:nvPr>
        </p:nvSpPr>
        <p:spPr>
          <a:xfrm>
            <a:off x="657089" y="899771"/>
            <a:ext cx="10653578" cy="859550"/>
          </a:xfrm>
        </p:spPr>
        <p:txBody>
          <a:bodyPr/>
          <a:lstStyle/>
          <a:p>
            <a:pPr algn="ctr"/>
            <a:r>
              <a:rPr lang="en-US" b="0" dirty="0">
                <a:solidFill>
                  <a:srgbClr val="FFFFFF"/>
                </a:solidFill>
                <a:latin typeface="Times New Roman" panose="02020603050405020304" pitchFamily="18" charset="0"/>
                <a:cs typeface="Times New Roman" panose="02020603050405020304" pitchFamily="18" charset="0"/>
              </a:rPr>
              <a:t>Push and Pull Factors For Afghan Asylum-See</a:t>
            </a:r>
            <a:endParaRPr lang="en-US" dirty="0"/>
          </a:p>
        </p:txBody>
      </p:sp>
    </p:spTree>
    <p:extLst>
      <p:ext uri="{BB962C8B-B14F-4D97-AF65-F5344CB8AC3E}">
        <p14:creationId xmlns:p14="http://schemas.microsoft.com/office/powerpoint/2010/main" val="10811870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1" name="Rectangle 1040">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Best 10 Villages in Greece &amp; the islands | Greeka">
            <a:extLst>
              <a:ext uri="{FF2B5EF4-FFF2-40B4-BE49-F238E27FC236}">
                <a16:creationId xmlns:a16="http://schemas.microsoft.com/office/drawing/2014/main" id="{D2A85B7F-12B8-E737-BE30-DAD150FC8D9D}"/>
              </a:ext>
            </a:extLst>
          </p:cNvPr>
          <p:cNvPicPr>
            <a:picLocks noGrp="1" noChangeAspect="1" noChangeArrowheads="1"/>
          </p:cNvPicPr>
          <p:nvPr>
            <p:ph idx="1"/>
          </p:nvPr>
        </p:nvPicPr>
        <p:blipFill>
          <a:blip r:embed="rId2">
            <a:alphaModFix amt="60000"/>
            <a:extLst>
              <a:ext uri="{28A0092B-C50C-407E-A947-70E740481C1C}">
                <a14:useLocalDpi xmlns:a14="http://schemas.microsoft.com/office/drawing/2010/main" val="0"/>
              </a:ext>
            </a:extLst>
          </a:blip>
          <a:srcRect t="8233" b="7498"/>
          <a:stretch>
            <a:fillRect/>
          </a:stretch>
        </p:blipFill>
        <p:spPr bwMode="auto">
          <a:xfrm>
            <a:off x="0" y="1"/>
            <a:ext cx="12192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106A1B3-1CE9-9BDA-A45E-648560A58D16}"/>
              </a:ext>
            </a:extLst>
          </p:cNvPr>
          <p:cNvSpPr>
            <a:spLocks noGrp="1"/>
          </p:cNvSpPr>
          <p:nvPr>
            <p:ph type="title"/>
          </p:nvPr>
        </p:nvSpPr>
        <p:spPr>
          <a:xfrm>
            <a:off x="2301923" y="460848"/>
            <a:ext cx="7588155" cy="1017674"/>
          </a:xfrm>
        </p:spPr>
        <p:txBody>
          <a:bodyPr vert="horz" lIns="91440" tIns="45720" rIns="91440" bIns="45720" rtlCol="0" anchor="b">
            <a:normAutofit/>
          </a:bodyPr>
          <a:lstStyle/>
          <a:p>
            <a:pPr algn="ctr"/>
            <a:r>
              <a:rPr lang="en-US" sz="5400" b="0" dirty="0">
                <a:solidFill>
                  <a:srgbClr val="FFFFFF"/>
                </a:solidFill>
                <a:latin typeface="Times New Roman" panose="02020603050405020304" pitchFamily="18" charset="0"/>
                <a:cs typeface="Times New Roman" panose="02020603050405020304" pitchFamily="18" charset="0"/>
              </a:rPr>
              <a:t>Immigration to Greece</a:t>
            </a:r>
          </a:p>
        </p:txBody>
      </p:sp>
      <p:sp>
        <p:nvSpPr>
          <p:cNvPr id="4" name="Title 1">
            <a:extLst>
              <a:ext uri="{FF2B5EF4-FFF2-40B4-BE49-F238E27FC236}">
                <a16:creationId xmlns:a16="http://schemas.microsoft.com/office/drawing/2014/main" id="{88D61731-F8BA-7795-DC71-A5DBEFBD9DEC}"/>
              </a:ext>
            </a:extLst>
          </p:cNvPr>
          <p:cNvSpPr txBox="1">
            <a:spLocks/>
          </p:cNvSpPr>
          <p:nvPr/>
        </p:nvSpPr>
        <p:spPr>
          <a:xfrm>
            <a:off x="920939" y="1662858"/>
            <a:ext cx="10350121" cy="4487693"/>
          </a:xfrm>
          <a:prstGeom prst="rect">
            <a:avLst/>
          </a:prstGeom>
        </p:spPr>
        <p:txBody>
          <a:bodyPr vert="horz" lIns="91440" tIns="45720" rIns="91440" bIns="45720" rtlCol="0">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spcBef>
                <a:spcPts val="1000"/>
              </a:spcBef>
            </a:pPr>
            <a:r>
              <a:rPr lang="en-US" sz="2200" dirty="0">
                <a:solidFill>
                  <a:srgbClr val="FFFFFF"/>
                </a:solidFill>
                <a:latin typeface="+mn-lt"/>
                <a:ea typeface="+mn-ea"/>
                <a:cs typeface="+mn-cs"/>
              </a:rPr>
              <a:t>	</a:t>
            </a:r>
            <a:r>
              <a:rPr lang="en-US" sz="2200" b="0" dirty="0">
                <a:solidFill>
                  <a:srgbClr val="FFFFFF"/>
                </a:solidFill>
                <a:latin typeface="Times New Roman" panose="02020603050405020304" pitchFamily="18" charset="0"/>
                <a:ea typeface="+mn-ea"/>
                <a:cs typeface="Times New Roman" panose="02020603050405020304" pitchFamily="18" charset="0"/>
              </a:rPr>
              <a:t>Greece has experienced periods of mass immigration and emigration. The primary occupants who choose to migrate to Greece usually come from Bulgaria, Albania, Russia, and so on. Most migrants travel to Greece because of its rich culture, affordable living, and Mediterranean diet, but also the gateway it provides to other European nations. Greece has also experienced a period where many people were emigrating, because of the economic depression in the late 1900’s and the 2009 Economic Crisis. War was also a major reason some chose to move from and to, as World War II conditions and the Greek Civil War. Afghan immigrants were seeking asylum and protection from their home country after suffering under the Taliban regime and war, bringing unbridled violence and insecurity. They started a dangerous journey to Europe where they settled, still tied to their culture and safety.</a:t>
            </a:r>
          </a:p>
        </p:txBody>
      </p:sp>
    </p:spTree>
    <p:extLst>
      <p:ext uri="{BB962C8B-B14F-4D97-AF65-F5344CB8AC3E}">
        <p14:creationId xmlns:p14="http://schemas.microsoft.com/office/powerpoint/2010/main" val="18764116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alpha val="59000"/>
          </a:schemeClr>
        </a:solidFill>
        <a:effectLst/>
      </p:bgPr>
    </p:bg>
    <p:spTree>
      <p:nvGrpSpPr>
        <p:cNvPr id="1" name=""/>
        <p:cNvGrpSpPr/>
        <p:nvPr/>
      </p:nvGrpSpPr>
      <p:grpSpPr>
        <a:xfrm>
          <a:off x="0" y="0"/>
          <a:ext cx="0" cy="0"/>
          <a:chOff x="0" y="0"/>
          <a:chExt cx="0" cy="0"/>
        </a:xfrm>
      </p:grpSpPr>
      <p:pic>
        <p:nvPicPr>
          <p:cNvPr id="4100" name="Picture 4" descr="The flag of Greece and its history - Greek News Agenda">
            <a:extLst>
              <a:ext uri="{FF2B5EF4-FFF2-40B4-BE49-F238E27FC236}">
                <a16:creationId xmlns:a16="http://schemas.microsoft.com/office/drawing/2014/main" id="{BE02AD0F-AC56-05C0-C945-C0A65D5B08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15638" r="187" b="-434"/>
          <a:stretch/>
        </p:blipFill>
        <p:spPr bwMode="auto">
          <a:xfrm>
            <a:off x="0" y="0"/>
            <a:ext cx="12184069" cy="69722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9283455-AAEC-7C68-3ADB-3E4AB1BD6380}"/>
              </a:ext>
            </a:extLst>
          </p:cNvPr>
          <p:cNvSpPr>
            <a:spLocks noGrp="1"/>
          </p:cNvSpPr>
          <p:nvPr>
            <p:ph type="title"/>
          </p:nvPr>
        </p:nvSpPr>
        <p:spPr>
          <a:xfrm>
            <a:off x="612516" y="709332"/>
            <a:ext cx="10653578" cy="1132258"/>
          </a:xfrm>
        </p:spPr>
        <p:txBody>
          <a:bodyPr>
            <a:normAutofit/>
          </a:bodyPr>
          <a:lstStyle/>
          <a:p>
            <a:pPr algn="ctr"/>
            <a:r>
              <a:rPr lang="en-US" sz="5400" b="0" dirty="0">
                <a:solidFill>
                  <a:schemeClr val="bg1"/>
                </a:solidFill>
                <a:latin typeface="Times New Roman" panose="02020603050405020304" pitchFamily="18" charset="0"/>
                <a:cs typeface="Times New Roman" panose="02020603050405020304" pitchFamily="18" charset="0"/>
              </a:rPr>
              <a:t>Afghan Migrants’ Impact</a:t>
            </a:r>
          </a:p>
        </p:txBody>
      </p:sp>
      <p:graphicFrame>
        <p:nvGraphicFramePr>
          <p:cNvPr id="8" name="Content Placeholder 7">
            <a:extLst>
              <a:ext uri="{FF2B5EF4-FFF2-40B4-BE49-F238E27FC236}">
                <a16:creationId xmlns:a16="http://schemas.microsoft.com/office/drawing/2014/main" id="{563AD4B4-1DA1-FE6C-1A20-5F6701852520}"/>
              </a:ext>
            </a:extLst>
          </p:cNvPr>
          <p:cNvGraphicFramePr>
            <a:graphicFrameLocks noGrp="1"/>
          </p:cNvGraphicFramePr>
          <p:nvPr>
            <p:ph idx="1"/>
            <p:extLst>
              <p:ext uri="{D42A27DB-BD31-4B8C-83A1-F6EECF244321}">
                <p14:modId xmlns:p14="http://schemas.microsoft.com/office/powerpoint/2010/main" val="2672759751"/>
              </p:ext>
            </p:extLst>
          </p:nvPr>
        </p:nvGraphicFramePr>
        <p:xfrm>
          <a:off x="792065" y="1841590"/>
          <a:ext cx="10653712" cy="4737996"/>
        </p:xfrm>
        <a:graphic>
          <a:graphicData uri="http://schemas.openxmlformats.org/drawingml/2006/table">
            <a:tbl>
              <a:tblPr firstRow="1" bandRow="1">
                <a:tableStyleId>{327F97BB-C833-4FB7-BDE5-3F7075034690}</a:tableStyleId>
              </a:tblPr>
              <a:tblGrid>
                <a:gridCol w="2663428">
                  <a:extLst>
                    <a:ext uri="{9D8B030D-6E8A-4147-A177-3AD203B41FA5}">
                      <a16:colId xmlns:a16="http://schemas.microsoft.com/office/drawing/2014/main" val="3028217992"/>
                    </a:ext>
                  </a:extLst>
                </a:gridCol>
                <a:gridCol w="2663428">
                  <a:extLst>
                    <a:ext uri="{9D8B030D-6E8A-4147-A177-3AD203B41FA5}">
                      <a16:colId xmlns:a16="http://schemas.microsoft.com/office/drawing/2014/main" val="1704864529"/>
                    </a:ext>
                  </a:extLst>
                </a:gridCol>
                <a:gridCol w="2663428">
                  <a:extLst>
                    <a:ext uri="{9D8B030D-6E8A-4147-A177-3AD203B41FA5}">
                      <a16:colId xmlns:a16="http://schemas.microsoft.com/office/drawing/2014/main" val="1589769715"/>
                    </a:ext>
                  </a:extLst>
                </a:gridCol>
                <a:gridCol w="2663428">
                  <a:extLst>
                    <a:ext uri="{9D8B030D-6E8A-4147-A177-3AD203B41FA5}">
                      <a16:colId xmlns:a16="http://schemas.microsoft.com/office/drawing/2014/main" val="3440640608"/>
                    </a:ext>
                  </a:extLst>
                </a:gridCol>
              </a:tblGrid>
              <a:tr h="1231590">
                <a:tc>
                  <a:txBody>
                    <a:bodyPr/>
                    <a:lstStyle/>
                    <a:p>
                      <a:pPr algn="ctr">
                        <a:lnSpc>
                          <a:spcPct val="250000"/>
                        </a:lnSpc>
                      </a:pPr>
                      <a:r>
                        <a:rPr lang="en-US" sz="2000" b="0" dirty="0">
                          <a:latin typeface="Times New Roman" panose="02020603050405020304" pitchFamily="18" charset="0"/>
                          <a:cs typeface="Times New Roman" panose="02020603050405020304" pitchFamily="18" charset="0"/>
                        </a:rPr>
                        <a:t>Economical</a:t>
                      </a:r>
                    </a:p>
                  </a:txBody>
                  <a:tcPr/>
                </a:tc>
                <a:tc>
                  <a:txBody>
                    <a:bodyPr/>
                    <a:lstStyle/>
                    <a:p>
                      <a:pPr algn="l"/>
                      <a:r>
                        <a:rPr lang="en-US" b="0" dirty="0">
                          <a:latin typeface="Times New Roman" panose="02020603050405020304" pitchFamily="18" charset="0"/>
                          <a:cs typeface="Times New Roman" panose="02020603050405020304" pitchFamily="18" charset="0"/>
                        </a:rPr>
                        <a:t>Greece’s GDP was facing a time of developing economy, migrants led an increased working class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Times New Roman" panose="02020603050405020304" pitchFamily="18" charset="0"/>
                          <a:cs typeface="Times New Roman" panose="02020603050405020304" pitchFamily="18" charset="0"/>
                        </a:rPr>
                        <a:t>Greece’s GDP rapidly increased in 2021 making way for an economic upturn</a:t>
                      </a:r>
                    </a:p>
                  </a:txBody>
                  <a:tcPr/>
                </a:tc>
                <a:tc>
                  <a:txBody>
                    <a:bodyPr/>
                    <a:lstStyle/>
                    <a:p>
                      <a:r>
                        <a:rPr lang="en-US" b="0" dirty="0">
                          <a:latin typeface="Times New Roman" panose="02020603050405020304" pitchFamily="18" charset="0"/>
                          <a:cs typeface="Times New Roman" panose="02020603050405020304" pitchFamily="18" charset="0"/>
                        </a:rPr>
                        <a:t>Most Afghans worked in agriculture, domestic labor, or entrepreneurship</a:t>
                      </a:r>
                    </a:p>
                  </a:txBody>
                  <a:tcPr/>
                </a:tc>
                <a:extLst>
                  <a:ext uri="{0D108BD9-81ED-4DB2-BD59-A6C34878D82A}">
                    <a16:rowId xmlns:a16="http://schemas.microsoft.com/office/drawing/2014/main" val="3598480946"/>
                  </a:ext>
                </a:extLst>
              </a:tr>
              <a:tr h="1121160">
                <a:tc>
                  <a:txBody>
                    <a:bodyPr/>
                    <a:lstStyle/>
                    <a:p>
                      <a:pPr algn="ctr">
                        <a:lnSpc>
                          <a:spcPct val="250000"/>
                        </a:lnSpc>
                      </a:pPr>
                      <a:r>
                        <a:rPr lang="en-US" sz="2000" dirty="0">
                          <a:latin typeface="Times New Roman" panose="02020603050405020304" pitchFamily="18" charset="0"/>
                          <a:cs typeface="Times New Roman" panose="02020603050405020304" pitchFamily="18" charset="0"/>
                        </a:rPr>
                        <a:t>Social-Cultural</a:t>
                      </a:r>
                    </a:p>
                  </a:txBody>
                  <a:tcPr/>
                </a:tc>
                <a:tc>
                  <a:txBody>
                    <a:bodyPr/>
                    <a:lstStyle/>
                    <a:p>
                      <a:r>
                        <a:rPr lang="en-US" dirty="0">
                          <a:latin typeface="Times New Roman" panose="02020603050405020304" pitchFamily="18" charset="0"/>
                          <a:cs typeface="Times New Roman" panose="02020603050405020304" pitchFamily="18" charset="0"/>
                        </a:rPr>
                        <a:t>Afghan culture mixed with Greece’s and Europe's</a:t>
                      </a:r>
                    </a:p>
                  </a:txBody>
                  <a:tcPr/>
                </a:tc>
                <a:tc>
                  <a:txBody>
                    <a:bodyPr/>
                    <a:lstStyle/>
                    <a:p>
                      <a:r>
                        <a:rPr lang="en-US" dirty="0">
                          <a:latin typeface="Times New Roman" panose="02020603050405020304" pitchFamily="18" charset="0"/>
                          <a:cs typeface="Times New Roman" panose="02020603050405020304" pitchFamily="18" charset="0"/>
                        </a:rPr>
                        <a:t>New spices were introduced to European culture</a:t>
                      </a:r>
                    </a:p>
                  </a:txBody>
                  <a:tcPr/>
                </a:tc>
                <a:tc>
                  <a:txBody>
                    <a:bodyPr/>
                    <a:lstStyle/>
                    <a:p>
                      <a:r>
                        <a:rPr lang="en-US" dirty="0">
                          <a:latin typeface="Times New Roman" panose="02020603050405020304" pitchFamily="18" charset="0"/>
                          <a:cs typeface="Times New Roman" panose="02020603050405020304" pitchFamily="18" charset="0"/>
                        </a:rPr>
                        <a:t>Greece created restrictive asylum policies</a:t>
                      </a:r>
                    </a:p>
                  </a:txBody>
                  <a:tcPr/>
                </a:tc>
                <a:extLst>
                  <a:ext uri="{0D108BD9-81ED-4DB2-BD59-A6C34878D82A}">
                    <a16:rowId xmlns:a16="http://schemas.microsoft.com/office/drawing/2014/main" val="1502324105"/>
                  </a:ext>
                </a:extLst>
              </a:tr>
              <a:tr h="1196526">
                <a:tc>
                  <a:txBody>
                    <a:bodyPr/>
                    <a:lstStyle/>
                    <a:p>
                      <a:pPr algn="ctr">
                        <a:lnSpc>
                          <a:spcPct val="250000"/>
                        </a:lnSpc>
                      </a:pPr>
                      <a:r>
                        <a:rPr lang="en-US" sz="2000" dirty="0">
                          <a:latin typeface="Times New Roman" panose="02020603050405020304" pitchFamily="18" charset="0"/>
                          <a:cs typeface="Times New Roman" panose="02020603050405020304" pitchFamily="18" charset="0"/>
                        </a:rPr>
                        <a:t>Political</a:t>
                      </a:r>
                    </a:p>
                  </a:txBody>
                  <a:tcPr/>
                </a:tc>
                <a:tc>
                  <a:txBody>
                    <a:bodyPr/>
                    <a:lstStyle/>
                    <a:p>
                      <a:r>
                        <a:rPr lang="en-US" dirty="0">
                          <a:latin typeface="Times New Roman" panose="02020603050405020304" pitchFamily="18" charset="0"/>
                          <a:cs typeface="Times New Roman" panose="02020603050405020304" pitchFamily="18" charset="0"/>
                        </a:rPr>
                        <a:t>Greece instituted a new policy due to migrants: Safe Third Country Policy</a:t>
                      </a:r>
                    </a:p>
                  </a:txBody>
                  <a:tcPr/>
                </a:tc>
                <a:tc>
                  <a:txBody>
                    <a:bodyPr/>
                    <a:lstStyle/>
                    <a:p>
                      <a:r>
                        <a:rPr lang="en-US" dirty="0">
                          <a:latin typeface="Times New Roman" panose="02020603050405020304" pitchFamily="18" charset="0"/>
                          <a:cs typeface="Times New Roman" panose="02020603050405020304" pitchFamily="18" charset="0"/>
                        </a:rPr>
                        <a:t>Relocation diffusion may influence elections</a:t>
                      </a:r>
                    </a:p>
                  </a:txBody>
                  <a:tcPr/>
                </a:tc>
                <a:tc>
                  <a:txBody>
                    <a:bodyPr/>
                    <a:lstStyle/>
                    <a:p>
                      <a:r>
                        <a:rPr lang="en-US" dirty="0">
                          <a:latin typeface="Times New Roman" panose="02020603050405020304" pitchFamily="18" charset="0"/>
                          <a:cs typeface="Times New Roman" panose="02020603050405020304" pitchFamily="18" charset="0"/>
                        </a:rPr>
                        <a:t>International(and domestic) criticism of the Safe Third Country Policy</a:t>
                      </a:r>
                    </a:p>
                  </a:txBody>
                  <a:tcPr/>
                </a:tc>
                <a:extLst>
                  <a:ext uri="{0D108BD9-81ED-4DB2-BD59-A6C34878D82A}">
                    <a16:rowId xmlns:a16="http://schemas.microsoft.com/office/drawing/2014/main" val="579001979"/>
                  </a:ext>
                </a:extLst>
              </a:tr>
              <a:tr h="1121160">
                <a:tc>
                  <a:txBody>
                    <a:bodyPr/>
                    <a:lstStyle/>
                    <a:p>
                      <a:pPr algn="ctr">
                        <a:lnSpc>
                          <a:spcPct val="250000"/>
                        </a:lnSpc>
                      </a:pPr>
                      <a:r>
                        <a:rPr lang="en-US" sz="2000" dirty="0">
                          <a:latin typeface="Times New Roman" panose="02020603050405020304" pitchFamily="18" charset="0"/>
                          <a:cs typeface="Times New Roman" panose="02020603050405020304" pitchFamily="18" charset="0"/>
                        </a:rPr>
                        <a:t>Environmental</a:t>
                      </a:r>
                    </a:p>
                  </a:txBody>
                  <a:tcPr/>
                </a:tc>
                <a:tc>
                  <a:txBody>
                    <a:bodyPr/>
                    <a:lstStyle/>
                    <a:p>
                      <a:r>
                        <a:rPr lang="en-US" dirty="0">
                          <a:latin typeface="Times New Roman" panose="02020603050405020304" pitchFamily="18" charset="0"/>
                          <a:cs typeface="Times New Roman" panose="02020603050405020304" pitchFamily="18" charset="0"/>
                        </a:rPr>
                        <a:t>Greece suffered high temperatures in 2021, but no direct correlation</a:t>
                      </a:r>
                    </a:p>
                  </a:txBody>
                  <a:tcPr/>
                </a:tc>
                <a:tc>
                  <a:txBody>
                    <a:bodyPr/>
                    <a:lstStyle/>
                    <a:p>
                      <a:r>
                        <a:rPr lang="en-US" dirty="0">
                          <a:latin typeface="Times New Roman" panose="02020603050405020304" pitchFamily="18" charset="0"/>
                          <a:cs typeface="Times New Roman" panose="02020603050405020304" pitchFamily="18" charset="0"/>
                        </a:rPr>
                        <a:t>The Agriculture Industry increased as Afghan immigrants started work</a:t>
                      </a:r>
                    </a:p>
                  </a:txBody>
                  <a:tcPr/>
                </a:tc>
                <a:tc>
                  <a:txBody>
                    <a:bodyPr/>
                    <a:lstStyle/>
                    <a:p>
                      <a:r>
                        <a:rPr lang="en-US" dirty="0">
                          <a:latin typeface="Times New Roman" panose="02020603050405020304" pitchFamily="18" charset="0"/>
                          <a:cs typeface="Times New Roman" panose="02020603050405020304" pitchFamily="18" charset="0"/>
                        </a:rPr>
                        <a:t>The arable land percentage also increased as a result of the expansion of the industry</a:t>
                      </a:r>
                    </a:p>
                  </a:txBody>
                  <a:tcPr/>
                </a:tc>
                <a:extLst>
                  <a:ext uri="{0D108BD9-81ED-4DB2-BD59-A6C34878D82A}">
                    <a16:rowId xmlns:a16="http://schemas.microsoft.com/office/drawing/2014/main" val="1289936165"/>
                  </a:ext>
                </a:extLst>
              </a:tr>
            </a:tbl>
          </a:graphicData>
        </a:graphic>
      </p:graphicFrame>
    </p:spTree>
    <p:extLst>
      <p:ext uri="{BB962C8B-B14F-4D97-AF65-F5344CB8AC3E}">
        <p14:creationId xmlns:p14="http://schemas.microsoft.com/office/powerpoint/2010/main" val="3444037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9" name="Rectangle 5128">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4" name="Picture 4" descr="One Afghan man's migration journey to Europe">
            <a:extLst>
              <a:ext uri="{FF2B5EF4-FFF2-40B4-BE49-F238E27FC236}">
                <a16:creationId xmlns:a16="http://schemas.microsoft.com/office/drawing/2014/main" id="{F19F934B-67A8-5E01-B878-7B7C8A845327}"/>
              </a:ext>
            </a:extLst>
          </p:cNvPr>
          <p:cNvPicPr>
            <a:picLocks noGrp="1" noChangeAspect="1" noChangeArrowheads="1"/>
          </p:cNvPicPr>
          <p:nvPr>
            <p:ph idx="1"/>
          </p:nvPr>
        </p:nvPicPr>
        <p:blipFill>
          <a:blip r:embed="rId2">
            <a:alphaModFix amt="60000"/>
            <a:extLst>
              <a:ext uri="{28A0092B-C50C-407E-A947-70E740481C1C}">
                <a14:useLocalDpi xmlns:a14="http://schemas.microsoft.com/office/drawing/2010/main" val="0"/>
              </a:ext>
            </a:extLst>
          </a:blip>
          <a:srcRect t="39" b="20456"/>
          <a:stretch>
            <a:fillRect/>
          </a:stretch>
        </p:blipFill>
        <p:spPr bwMode="auto">
          <a:xfrm>
            <a:off x="0" y="1"/>
            <a:ext cx="12192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66B3DA4-14D1-BBCC-4A98-4741B8E07A17}"/>
              </a:ext>
            </a:extLst>
          </p:cNvPr>
          <p:cNvSpPr>
            <a:spLocks noGrp="1"/>
          </p:cNvSpPr>
          <p:nvPr>
            <p:ph type="title"/>
          </p:nvPr>
        </p:nvSpPr>
        <p:spPr>
          <a:xfrm>
            <a:off x="3437467" y="203201"/>
            <a:ext cx="8517468" cy="3225799"/>
          </a:xfrm>
        </p:spPr>
        <p:txBody>
          <a:bodyPr vert="horz" lIns="91440" tIns="45720" rIns="91440" bIns="45720" rtlCol="0" anchor="b">
            <a:noAutofit/>
          </a:bodyPr>
          <a:lstStyle/>
          <a:p>
            <a:pPr algn="just"/>
            <a:r>
              <a:rPr lang="en-US" sz="2200" b="0" dirty="0">
                <a:solidFill>
                  <a:srgbClr val="FFFFFF"/>
                </a:solidFill>
                <a:latin typeface="Times New Roman" panose="02020603050405020304" pitchFamily="18" charset="0"/>
                <a:cs typeface="Times New Roman" panose="02020603050405020304" pitchFamily="18" charset="0"/>
              </a:rPr>
              <a:t>	This map indicates the patterns of movement throughout the Middle East to Europe. Afghan migrants who were escaping from the Taliban's Regime passed through Iran, Turkey, and waited for acceptance to Greece(usually their pathway to Europe). Many times, migrants were documented to cross borders illegally and die by border control.  Greece had restrictive policies on acceptance in mid-September of 2021, declaring Turkey, Albania, and North Macedonia as potential locations for asylum-seekers. Greece’s Safe Third Country Policy was met with heavy criticism. When migrants arrived in the refugee camps on Greece’s islands, they waited –sometimes months– before rejection or acceptance. </a:t>
            </a:r>
          </a:p>
        </p:txBody>
      </p:sp>
      <p:sp>
        <p:nvSpPr>
          <p:cNvPr id="4" name="TextBox 3">
            <a:extLst>
              <a:ext uri="{FF2B5EF4-FFF2-40B4-BE49-F238E27FC236}">
                <a16:creationId xmlns:a16="http://schemas.microsoft.com/office/drawing/2014/main" id="{3DF6175F-14A6-5779-D61A-C623ECC1533F}"/>
              </a:ext>
            </a:extLst>
          </p:cNvPr>
          <p:cNvSpPr txBox="1"/>
          <p:nvPr/>
        </p:nvSpPr>
        <p:spPr>
          <a:xfrm>
            <a:off x="304799" y="5594739"/>
            <a:ext cx="7399868" cy="923330"/>
          </a:xfrm>
          <a:prstGeom prst="rect">
            <a:avLst/>
          </a:prstGeom>
          <a:noFill/>
        </p:spPr>
        <p:txBody>
          <a:bodyPr wrap="square" rtlCol="0">
            <a:spAutoFit/>
          </a:bodyPr>
          <a:lstStyle/>
          <a:p>
            <a:r>
              <a:rPr lang="en-US" sz="5400" dirty="0">
                <a:latin typeface="Times New Roman" panose="02020603050405020304" pitchFamily="18" charset="0"/>
                <a:cs typeface="Times New Roman" panose="02020603050405020304" pitchFamily="18" charset="0"/>
              </a:rPr>
              <a:t>Map of Afghan Migration</a:t>
            </a:r>
          </a:p>
        </p:txBody>
      </p:sp>
    </p:spTree>
    <p:extLst>
      <p:ext uri="{BB962C8B-B14F-4D97-AF65-F5344CB8AC3E}">
        <p14:creationId xmlns:p14="http://schemas.microsoft.com/office/powerpoint/2010/main" val="9704687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alpha val="48000"/>
          </a:schemeClr>
        </a:solidFill>
        <a:effectLst/>
      </p:bgPr>
    </p:bg>
    <p:spTree>
      <p:nvGrpSpPr>
        <p:cNvPr id="1" name=""/>
        <p:cNvGrpSpPr/>
        <p:nvPr/>
      </p:nvGrpSpPr>
      <p:grpSpPr>
        <a:xfrm>
          <a:off x="0" y="0"/>
          <a:ext cx="0" cy="0"/>
          <a:chOff x="0" y="0"/>
          <a:chExt cx="0" cy="0"/>
        </a:xfrm>
      </p:grpSpPr>
      <p:sp useBgFill="1">
        <p:nvSpPr>
          <p:cNvPr id="6148" name="Rectangle 6147">
            <a:extLst>
              <a:ext uri="{FF2B5EF4-FFF2-40B4-BE49-F238E27FC236}">
                <a16:creationId xmlns:a16="http://schemas.microsoft.com/office/drawing/2014/main" id="{CD59064A-7BD3-673D-2606-9507EFB48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AF3DE9-B39C-A085-8303-E1FCB19E0BA4}"/>
              </a:ext>
            </a:extLst>
          </p:cNvPr>
          <p:cNvSpPr>
            <a:spLocks noGrp="1"/>
          </p:cNvSpPr>
          <p:nvPr>
            <p:ph type="title"/>
          </p:nvPr>
        </p:nvSpPr>
        <p:spPr>
          <a:xfrm>
            <a:off x="504345" y="383505"/>
            <a:ext cx="7204271" cy="941837"/>
          </a:xfrm>
        </p:spPr>
        <p:txBody>
          <a:bodyPr>
            <a:normAutofit/>
          </a:bodyPr>
          <a:lstStyle/>
          <a:p>
            <a:r>
              <a:rPr lang="en-US" sz="5400" b="0" dirty="0">
                <a:solidFill>
                  <a:schemeClr val="bg1"/>
                </a:solidFill>
                <a:latin typeface="Times New Roman" panose="02020603050405020304" pitchFamily="18" charset="0"/>
                <a:cs typeface="Times New Roman" panose="02020603050405020304" pitchFamily="18" charset="0"/>
              </a:rPr>
              <a:t>Afghan Density Globally</a:t>
            </a:r>
          </a:p>
        </p:txBody>
      </p:sp>
      <p:pic>
        <p:nvPicPr>
          <p:cNvPr id="6146" name="Picture 2" descr="afghan-refugee-population-chart">
            <a:extLst>
              <a:ext uri="{FF2B5EF4-FFF2-40B4-BE49-F238E27FC236}">
                <a16:creationId xmlns:a16="http://schemas.microsoft.com/office/drawing/2014/main" id="{BFD89AF1-4243-00A2-4A10-66BEEE00F4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7138"/>
          <a:stretch>
            <a:fillRect/>
          </a:stretch>
        </p:blipFill>
        <p:spPr bwMode="auto">
          <a:xfrm>
            <a:off x="541890" y="1524269"/>
            <a:ext cx="7129183" cy="466388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A0E2B1B-CA3B-1C4E-266A-34BFC4ED599F}"/>
              </a:ext>
            </a:extLst>
          </p:cNvPr>
          <p:cNvSpPr>
            <a:spLocks noGrp="1"/>
          </p:cNvSpPr>
          <p:nvPr>
            <p:ph idx="1"/>
          </p:nvPr>
        </p:nvSpPr>
        <p:spPr>
          <a:xfrm>
            <a:off x="7979562" y="206024"/>
            <a:ext cx="3903949" cy="6651975"/>
          </a:xfrm>
        </p:spPr>
        <p:txBody>
          <a:bodyPr>
            <a:normAutofit lnSpcReduction="10000"/>
          </a:bodyPr>
          <a:lstStyle/>
          <a:p>
            <a:pPr marL="0" indent="0">
              <a:buNone/>
            </a:pPr>
            <a:r>
              <a:rPr lang="en-US" sz="2200" dirty="0">
                <a:solidFill>
                  <a:schemeClr val="bg1"/>
                </a:solidFill>
                <a:latin typeface="Times New Roman" panose="02020603050405020304" pitchFamily="18" charset="0"/>
                <a:cs typeface="Times New Roman" panose="02020603050405020304" pitchFamily="18" charset="0"/>
              </a:rPr>
              <a:t>Afghan migrants primarily seek asylum in European nations where safety is prioritized. Greece was home to more than 13,000 Afghan migrants in 2020. In 2021, when migration rates increased, each month more than 2,000 were admitted for travel. </a:t>
            </a:r>
          </a:p>
          <a:p>
            <a:pPr marL="0" indent="0">
              <a:buNone/>
            </a:pPr>
            <a:r>
              <a:rPr lang="en-US" sz="2200" dirty="0">
                <a:solidFill>
                  <a:schemeClr val="bg1"/>
                </a:solidFill>
                <a:latin typeface="Times New Roman" panose="02020603050405020304" pitchFamily="18" charset="0"/>
                <a:cs typeface="Times New Roman" panose="02020603050405020304" pitchFamily="18" charset="0"/>
              </a:rPr>
              <a:t>In December of 2021, data shows that 28,543 (24% of total Afghan refugees) refugees and 9,142 (25% of total asylum-seekers) asylum-seekers immigrated to Greece, making them the largest population of asylum seekers in Greece and the second largest refugees.</a:t>
            </a:r>
          </a:p>
        </p:txBody>
      </p:sp>
    </p:spTree>
    <p:extLst>
      <p:ext uri="{BB962C8B-B14F-4D97-AF65-F5344CB8AC3E}">
        <p14:creationId xmlns:p14="http://schemas.microsoft.com/office/powerpoint/2010/main" val="2099343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CCDF72-C22C-895F-8C21-C8BB6B99AE6B}"/>
              </a:ext>
            </a:extLst>
          </p:cNvPr>
          <p:cNvSpPr>
            <a:spLocks noGrp="1"/>
          </p:cNvSpPr>
          <p:nvPr>
            <p:ph idx="1"/>
          </p:nvPr>
        </p:nvSpPr>
        <p:spPr>
          <a:xfrm>
            <a:off x="872156" y="4272796"/>
            <a:ext cx="8837546" cy="644789"/>
          </a:xfrm>
        </p:spPr>
        <p:txBody>
          <a:bodyPr vert="horz" lIns="91440" tIns="45720" rIns="91440" bIns="45720" rtlCol="0">
            <a:normAutofit/>
          </a:bodyPr>
          <a:lstStyle/>
          <a:p>
            <a:pPr marL="0" indent="0">
              <a:buNone/>
            </a:pPr>
            <a:r>
              <a:rPr lang="en-US" sz="2400" dirty="0">
                <a:solidFill>
                  <a:srgbClr val="FFFFFF"/>
                </a:solidFill>
              </a:rPr>
              <a:t>	The Afghan migrants</a:t>
            </a:r>
          </a:p>
        </p:txBody>
      </p:sp>
      <p:sp>
        <p:nvSpPr>
          <p:cNvPr id="9" name="Title 8">
            <a:extLst>
              <a:ext uri="{FF2B5EF4-FFF2-40B4-BE49-F238E27FC236}">
                <a16:creationId xmlns:a16="http://schemas.microsoft.com/office/drawing/2014/main" id="{470DE8C2-44F7-9FD9-6F44-C4B921D1941C}"/>
              </a:ext>
            </a:extLst>
          </p:cNvPr>
          <p:cNvSpPr>
            <a:spLocks noGrp="1"/>
          </p:cNvSpPr>
          <p:nvPr>
            <p:ph type="title"/>
          </p:nvPr>
        </p:nvSpPr>
        <p:spPr/>
        <p:txBody>
          <a:bodyPr/>
          <a:lstStyle/>
          <a:p>
            <a:r>
              <a:rPr lang="en-US" dirty="0"/>
              <a:t>Afghan Migrant’s Remittances</a:t>
            </a:r>
          </a:p>
        </p:txBody>
      </p:sp>
      <p:sp>
        <p:nvSpPr>
          <p:cNvPr id="7175" name="Rectangle 7174">
            <a:extLst>
              <a:ext uri="{FF2B5EF4-FFF2-40B4-BE49-F238E27FC236}">
                <a16:creationId xmlns:a16="http://schemas.microsoft.com/office/drawing/2014/main" id="{D1BA7680-B1FB-4B6B-2155-45DD5D6C4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7" name="Rectangle 7176">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32383"/>
            <a:ext cx="12192000" cy="4525617"/>
          </a:xfrm>
          <a:prstGeom prst="rect">
            <a:avLst/>
          </a:prstGeom>
          <a:gradFill>
            <a:gsLst>
              <a:gs pos="0">
                <a:srgbClr val="000000">
                  <a:alpha val="0"/>
                </a:srgbClr>
              </a:gs>
              <a:gs pos="55000">
                <a:srgbClr val="000000">
                  <a:alpha val="35000"/>
                </a:srgbClr>
              </a:gs>
              <a:gs pos="100000">
                <a:srgbClr val="000000">
                  <a:alpha val="45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14F036C6-E50F-986E-3E18-F44C52CA2B5E}"/>
              </a:ext>
            </a:extLst>
          </p:cNvPr>
          <p:cNvPicPr>
            <a:picLocks noChangeAspect="1"/>
          </p:cNvPicPr>
          <p:nvPr/>
        </p:nvPicPr>
        <p:blipFill>
          <a:blip r:embed="rId2"/>
          <a:srcRect t="25612" b="17262"/>
          <a:stretch/>
        </p:blipFill>
        <p:spPr>
          <a:xfrm>
            <a:off x="-295538" y="0"/>
            <a:ext cx="12783076" cy="6858000"/>
          </a:xfrm>
          <a:prstGeom prst="rect">
            <a:avLst/>
          </a:prstGeom>
        </p:spPr>
      </p:pic>
      <p:sp>
        <p:nvSpPr>
          <p:cNvPr id="12" name="TextBox 11">
            <a:extLst>
              <a:ext uri="{FF2B5EF4-FFF2-40B4-BE49-F238E27FC236}">
                <a16:creationId xmlns:a16="http://schemas.microsoft.com/office/drawing/2014/main" id="{DA817BAF-0717-AD9E-49F5-2534E1044359}"/>
              </a:ext>
            </a:extLst>
          </p:cNvPr>
          <p:cNvSpPr txBox="1"/>
          <p:nvPr/>
        </p:nvSpPr>
        <p:spPr>
          <a:xfrm>
            <a:off x="872156" y="757568"/>
            <a:ext cx="10394070" cy="923330"/>
          </a:xfrm>
          <a:prstGeom prst="rect">
            <a:avLst/>
          </a:prstGeom>
          <a:noFill/>
        </p:spPr>
        <p:txBody>
          <a:bodyPr wrap="square" rtlCol="0">
            <a:spAutoFit/>
          </a:bodyPr>
          <a:lstStyle/>
          <a:p>
            <a:pPr algn="ctr"/>
            <a:r>
              <a:rPr lang="en-US" sz="5400" dirty="0">
                <a:latin typeface="Times New Roman" panose="02020603050405020304" pitchFamily="18" charset="0"/>
                <a:cs typeface="Times New Roman" panose="02020603050405020304" pitchFamily="18" charset="0"/>
              </a:rPr>
              <a:t>Afghan Migrant’s Remittances</a:t>
            </a:r>
          </a:p>
        </p:txBody>
      </p:sp>
      <p:sp>
        <p:nvSpPr>
          <p:cNvPr id="13" name="TextBox 12">
            <a:extLst>
              <a:ext uri="{FF2B5EF4-FFF2-40B4-BE49-F238E27FC236}">
                <a16:creationId xmlns:a16="http://schemas.microsoft.com/office/drawing/2014/main" id="{880F54B0-CFE5-B776-766E-CDE4FC31009F}"/>
              </a:ext>
            </a:extLst>
          </p:cNvPr>
          <p:cNvSpPr txBox="1"/>
          <p:nvPr/>
        </p:nvSpPr>
        <p:spPr>
          <a:xfrm>
            <a:off x="872156" y="2246770"/>
            <a:ext cx="10394070" cy="4154984"/>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	Afghan culture is strongly family-based; they feel a sense of responsibility to those less fortunate than themselves. Thus, they offer remittances, or money made in another country, to their families. In 2018, it was documented over one-fifth of the Afghan migrants sent remittances back to Afghanistan, but remittances rate dropped as the Taliban took over in 2021. Though many migrants had great difficulty finding jobs or programs to aid them, they were determined to help their families. Those who used Greece as an entrance to Europe and temporarily worked, would have a harder time to send money back. Greece also limited the integration the migrants had with the economy in certain periods, even further challenging the migrant’s status as workers for their families. A wide variety of refugees and asylum-seekers were hung in legal limbo neither accepted nor rejected from the Greek government. Hence, they were not able to send any money to their origin country. </a:t>
            </a:r>
          </a:p>
        </p:txBody>
      </p:sp>
    </p:spTree>
    <p:extLst>
      <p:ext uri="{BB962C8B-B14F-4D97-AF65-F5344CB8AC3E}">
        <p14:creationId xmlns:p14="http://schemas.microsoft.com/office/powerpoint/2010/main" val="27604688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9" name="Rectangle 2058">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4" name="Picture 6" descr="Afghan Food: 25 Popular Dishes + 3 Secret Recipe Tips - Domestic Fits">
            <a:extLst>
              <a:ext uri="{FF2B5EF4-FFF2-40B4-BE49-F238E27FC236}">
                <a16:creationId xmlns:a16="http://schemas.microsoft.com/office/drawing/2014/main" id="{719C6622-E826-79D7-0B51-7991B1652F3E}"/>
              </a:ext>
            </a:extLst>
          </p:cNvPr>
          <p:cNvPicPr>
            <a:picLocks noGrp="1" noChangeAspect="1" noChangeArrowheads="1"/>
          </p:cNvPicPr>
          <p:nvPr>
            <p:ph idx="1"/>
          </p:nvPr>
        </p:nvPicPr>
        <p:blipFill>
          <a:blip r:embed="rId2">
            <a:alphaModFix amt="60000"/>
            <a:extLst>
              <a:ext uri="{28A0092B-C50C-407E-A947-70E740481C1C}">
                <a14:useLocalDpi xmlns:a14="http://schemas.microsoft.com/office/drawing/2010/main" val="0"/>
              </a:ext>
            </a:extLst>
          </a:blip>
          <a:srcRect t="1256" b="14475"/>
          <a:stretch>
            <a:fillRect/>
          </a:stretch>
        </p:blipFill>
        <p:spPr bwMode="auto">
          <a:xfrm>
            <a:off x="1" y="0"/>
            <a:ext cx="12191999" cy="685799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2A448DE-5949-4844-3BBF-0B75F67C2B72}"/>
              </a:ext>
            </a:extLst>
          </p:cNvPr>
          <p:cNvSpPr>
            <a:spLocks noGrp="1"/>
          </p:cNvSpPr>
          <p:nvPr>
            <p:ph type="title"/>
          </p:nvPr>
        </p:nvSpPr>
        <p:spPr>
          <a:xfrm>
            <a:off x="492870" y="400050"/>
            <a:ext cx="11206259" cy="1155688"/>
          </a:xfrm>
        </p:spPr>
        <p:txBody>
          <a:bodyPr vert="horz" lIns="91440" tIns="45720" rIns="91440" bIns="45720" rtlCol="0" anchor="b">
            <a:normAutofit/>
          </a:bodyPr>
          <a:lstStyle/>
          <a:p>
            <a:pPr algn="ctr"/>
            <a:r>
              <a:rPr lang="en-US" sz="5400" b="0" dirty="0">
                <a:solidFill>
                  <a:srgbClr val="FFFFFF"/>
                </a:solidFill>
                <a:latin typeface="Times New Roman" panose="02020603050405020304" pitchFamily="18" charset="0"/>
                <a:cs typeface="Times New Roman" panose="02020603050405020304" pitchFamily="18" charset="0"/>
              </a:rPr>
              <a:t>Afghan Food reaching Greece</a:t>
            </a:r>
          </a:p>
        </p:txBody>
      </p:sp>
      <p:sp>
        <p:nvSpPr>
          <p:cNvPr id="4" name="TextBox 3">
            <a:extLst>
              <a:ext uri="{FF2B5EF4-FFF2-40B4-BE49-F238E27FC236}">
                <a16:creationId xmlns:a16="http://schemas.microsoft.com/office/drawing/2014/main" id="{EFDC10D8-FF01-6952-E509-DD5BE0B5DA25}"/>
              </a:ext>
            </a:extLst>
          </p:cNvPr>
          <p:cNvSpPr txBox="1"/>
          <p:nvPr/>
        </p:nvSpPr>
        <p:spPr>
          <a:xfrm>
            <a:off x="1004047" y="1890950"/>
            <a:ext cx="10363200" cy="4154984"/>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	The same year of the mass Afghan migration, the International Rescue Committee started a “Recipes for Home” series which highlighted Afghan food. A woman waiting for acceptance to Greece shared her fusion the two cultures: Bolani, an Afghan dish, and Greek yogurt. Afghan asylum-seekers used their traditional dishes and flavors to preserve their culture while in camps. The spread of Afghan cuisine still holds relevant, as many restaurants have sprouted highlighting Afghan dishes. Their dishes spread everywhere they cooked, maintaining their strong ties to their culture. This dispersed culture with relocation diffusion, or the spread of culture traits through migration. Greece welcomed not only the people but their dishes, cultures, and language, nurturing a new generation who live in safety and their own culture. Though it was harder to enter Greece in March to September in 2021, Greece did try to accommodate as many immigrants as possible, welcoming more than 2500 immigrants every 2-3 months. Most who are granted asylum settle in Athens. </a:t>
            </a:r>
          </a:p>
        </p:txBody>
      </p:sp>
    </p:spTree>
    <p:extLst>
      <p:ext uri="{BB962C8B-B14F-4D97-AF65-F5344CB8AC3E}">
        <p14:creationId xmlns:p14="http://schemas.microsoft.com/office/powerpoint/2010/main" val="33058565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From Kabul to Crawley: using collaboration to understand Afghan  resettlement across England | UCL IOE Blog">
            <a:extLst>
              <a:ext uri="{FF2B5EF4-FFF2-40B4-BE49-F238E27FC236}">
                <a16:creationId xmlns:a16="http://schemas.microsoft.com/office/drawing/2014/main" id="{B2438053-D11F-D304-A4AC-11A6BCA24864}"/>
              </a:ext>
            </a:extLst>
          </p:cNvPr>
          <p:cNvPicPr>
            <a:picLocks noGrp="1" noChangeAspect="1" noChangeArrowheads="1"/>
          </p:cNvPicPr>
          <p:nvPr>
            <p:ph idx="1"/>
          </p:nvPr>
        </p:nvPicPr>
        <p:blipFill>
          <a:blip r:embed="rId2">
            <a:alphaModFix amt="60000"/>
            <a:extLst>
              <a:ext uri="{28A0092B-C50C-407E-A947-70E740481C1C}">
                <a14:useLocalDpi xmlns:a14="http://schemas.microsoft.com/office/drawing/2010/main" val="0"/>
              </a:ext>
            </a:extLst>
          </a:blip>
          <a:srcRect t="10000"/>
          <a:stretch>
            <a:fillRect/>
          </a:stretch>
        </p:blipFill>
        <p:spPr bwMode="auto">
          <a:xfrm>
            <a:off x="1" y="1"/>
            <a:ext cx="12192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3A5782D-45E6-C633-9F8C-35705F22168E}"/>
              </a:ext>
            </a:extLst>
          </p:cNvPr>
          <p:cNvSpPr>
            <a:spLocks noGrp="1"/>
          </p:cNvSpPr>
          <p:nvPr>
            <p:ph type="title"/>
          </p:nvPr>
        </p:nvSpPr>
        <p:spPr>
          <a:xfrm>
            <a:off x="2151798" y="704680"/>
            <a:ext cx="7588155" cy="837517"/>
          </a:xfrm>
        </p:spPr>
        <p:txBody>
          <a:bodyPr vert="horz" lIns="91440" tIns="45720" rIns="91440" bIns="45720" rtlCol="0" anchor="b">
            <a:normAutofit/>
          </a:bodyPr>
          <a:lstStyle/>
          <a:p>
            <a:pPr algn="ctr"/>
            <a:r>
              <a:rPr lang="en-US" sz="5400" b="0" dirty="0">
                <a:solidFill>
                  <a:srgbClr val="FFFFFF"/>
                </a:solidFill>
                <a:latin typeface="Times New Roman" panose="02020603050405020304" pitchFamily="18" charset="0"/>
                <a:cs typeface="Times New Roman" panose="02020603050405020304" pitchFamily="18" charset="0"/>
              </a:rPr>
              <a:t>Afghans’ Suitcase</a:t>
            </a:r>
          </a:p>
        </p:txBody>
      </p:sp>
      <p:sp>
        <p:nvSpPr>
          <p:cNvPr id="7" name="TextBox 6">
            <a:extLst>
              <a:ext uri="{FF2B5EF4-FFF2-40B4-BE49-F238E27FC236}">
                <a16:creationId xmlns:a16="http://schemas.microsoft.com/office/drawing/2014/main" id="{B304CB8E-DCF3-19A9-7D50-EFB4961EE49C}"/>
              </a:ext>
            </a:extLst>
          </p:cNvPr>
          <p:cNvSpPr txBox="1"/>
          <p:nvPr/>
        </p:nvSpPr>
        <p:spPr>
          <a:xfrm>
            <a:off x="1033216" y="1815989"/>
            <a:ext cx="9825317" cy="4154984"/>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	Afghan migrants didn’t have much, but they refused to let go of their culture, so they started shaping Europe's, introducing different spices and foods. As asylum-seekers, migrants couldn’t not afford to carry so much. According to Medium’s article “What’s In My Bag”, a reference to a Syrian mother going to Greece with her infant daughter, the mother had brought socks, diapers, legal documents, and an assortment of medicine all to support her daughter. When arrival per Greece, she was given two jars of food from two Greek men who had seen her baby. An Afghan immigrant who was attempting to chain migrate to his friend in Germany took money, 2 clothes, face-whitening cream, and hair gel. He states, “I want my skin to be white and my hair to be spiked. I don’t want them to know I’m a refugee. I think that someone will spot me and call the police, because I’m illegal.” Migrants immigrating to Greece suffered hardship throughout the journey further attributing to the friction of distance theory.</a:t>
            </a:r>
          </a:p>
        </p:txBody>
      </p:sp>
    </p:spTree>
    <p:extLst>
      <p:ext uri="{BB962C8B-B14F-4D97-AF65-F5344CB8AC3E}">
        <p14:creationId xmlns:p14="http://schemas.microsoft.com/office/powerpoint/2010/main" val="40482741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74000">
              <a:schemeClr val="tx1"/>
            </a:gs>
            <a:gs pos="83000">
              <a:schemeClr val="tx1"/>
            </a:gs>
            <a:gs pos="100000">
              <a:schemeClr val="tx1"/>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9DB7-D987-49DB-74F7-58073492B42A}"/>
              </a:ext>
            </a:extLst>
          </p:cNvPr>
          <p:cNvSpPr>
            <a:spLocks noGrp="1"/>
          </p:cNvSpPr>
          <p:nvPr>
            <p:ph type="title"/>
          </p:nvPr>
        </p:nvSpPr>
        <p:spPr/>
        <p:txBody>
          <a:bodyPr>
            <a:normAutofit/>
          </a:bodyPr>
          <a:lstStyle/>
          <a:p>
            <a:pPr algn="ctr"/>
            <a:r>
              <a:rPr lang="en-US" sz="5400" dirty="0">
                <a:latin typeface="Times New Roman" panose="02020603050405020304" pitchFamily="18" charset="0"/>
                <a:cs typeface="Times New Roman" panose="02020603050405020304" pitchFamily="18" charset="0"/>
              </a:rPr>
              <a:t>Citations </a:t>
            </a:r>
          </a:p>
        </p:txBody>
      </p:sp>
      <p:pic>
        <p:nvPicPr>
          <p:cNvPr id="5" name="Picture 4">
            <a:extLst>
              <a:ext uri="{FF2B5EF4-FFF2-40B4-BE49-F238E27FC236}">
                <a16:creationId xmlns:a16="http://schemas.microsoft.com/office/drawing/2014/main" id="{050110B4-87BE-C869-1415-C690A30B24C5}"/>
              </a:ext>
            </a:extLst>
          </p:cNvPr>
          <p:cNvPicPr>
            <a:picLocks noChangeAspect="1"/>
          </p:cNvPicPr>
          <p:nvPr/>
        </p:nvPicPr>
        <p:blipFill>
          <a:blip r:embed="rId2"/>
          <a:srcRect t="17392" r="2303"/>
          <a:stretch/>
        </p:blipFill>
        <p:spPr>
          <a:xfrm>
            <a:off x="1" y="0"/>
            <a:ext cx="12192000" cy="6858000"/>
          </a:xfrm>
          <a:prstGeom prst="rect">
            <a:avLst/>
          </a:prstGeom>
        </p:spPr>
      </p:pic>
      <p:sp>
        <p:nvSpPr>
          <p:cNvPr id="7" name="TextBox 6">
            <a:extLst>
              <a:ext uri="{FF2B5EF4-FFF2-40B4-BE49-F238E27FC236}">
                <a16:creationId xmlns:a16="http://schemas.microsoft.com/office/drawing/2014/main" id="{3B6D9124-0ED7-7848-7FF7-5CA1ED6B9886}"/>
              </a:ext>
            </a:extLst>
          </p:cNvPr>
          <p:cNvSpPr txBox="1"/>
          <p:nvPr/>
        </p:nvSpPr>
        <p:spPr>
          <a:xfrm>
            <a:off x="612648" y="1114769"/>
            <a:ext cx="11480287" cy="535531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	Esfahani, Tara Ansari; Ekholm, Pernilla, AFGHANS IN GREECE, September 28, 2025, </a:t>
            </a:r>
            <a:r>
              <a:rPr lang="en-US" dirty="0">
                <a:solidFill>
                  <a:schemeClr val="accent1">
                    <a:lumMod val="50000"/>
                  </a:schemeClr>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https://www.rescue.org/sites/default/files/2022-09/IRC_Hellas_Afghans_in_Greece_EN_0.pdf</a:t>
            </a:r>
            <a:r>
              <a:rPr lang="en-US" dirty="0">
                <a:solidFill>
                  <a:schemeClr val="accent1">
                    <a:lumMod val="50000"/>
                  </a:schemeClr>
                </a:solidFill>
                <a:latin typeface="Times New Roman" panose="02020603050405020304" pitchFamily="18" charset="0"/>
                <a:cs typeface="Times New Roman" panose="02020603050405020304" pitchFamily="18" charset="0"/>
              </a:rPr>
              <a:t> </a:t>
            </a:r>
          </a:p>
          <a:p>
            <a:r>
              <a:rPr lang="en-US" dirty="0">
                <a:solidFill>
                  <a:schemeClr val="bg1"/>
                </a:solidFill>
                <a:latin typeface="Times New Roman" panose="02020603050405020304" pitchFamily="18" charset="0"/>
                <a:cs typeface="Times New Roman" panose="02020603050405020304" pitchFamily="18" charset="0"/>
              </a:rPr>
              <a:t>	Impact Initiatives, Migration: A study on Afghan returnees from Europe, their motivations and challenges to reintegration | Impact, September 28, 2025, </a:t>
            </a:r>
            <a:r>
              <a:rPr lang="en-US" dirty="0">
                <a:solidFill>
                  <a:schemeClr val="accent1">
                    <a:lumMod val="50000"/>
                  </a:schemeClr>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https://www.impact-initiatives.org/stories/migration-a-study-on-afghan-returnees-from-europe-their-motivations-and-challenges-to-reintegration/</a:t>
            </a:r>
            <a:r>
              <a:rPr lang="en-US" dirty="0">
                <a:solidFill>
                  <a:schemeClr val="accent1">
                    <a:lumMod val="50000"/>
                  </a:schemeClr>
                </a:solidFill>
                <a:latin typeface="Times New Roman" panose="02020603050405020304" pitchFamily="18" charset="0"/>
                <a:cs typeface="Times New Roman" panose="02020603050405020304" pitchFamily="18" charset="0"/>
              </a:rPr>
              <a:t> </a:t>
            </a:r>
          </a:p>
          <a:p>
            <a:r>
              <a:rPr lang="en-US" dirty="0">
                <a:solidFill>
                  <a:schemeClr val="accent1">
                    <a:lumMod val="50000"/>
                  </a:schemeClr>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Safe third country - Asylum Information Database: European Council on Refugees and Exiles, Asylum Information Database | European Council on Refugees and Exiles, June 28, 2024, September 28, 2025, </a:t>
            </a:r>
            <a:r>
              <a:rPr lang="en-US" dirty="0">
                <a:solidFill>
                  <a:schemeClr val="accent1">
                    <a:lumMod val="50000"/>
                  </a:schemeClr>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https://asylumineurope.org/reports/country/greece/asylum-procedure/the-safe-country-concepts/safe-third-country/</a:t>
            </a:r>
            <a:r>
              <a:rPr lang="en-US" dirty="0">
                <a:solidFill>
                  <a:schemeClr val="accent1">
                    <a:lumMod val="50000"/>
                  </a:schemeClr>
                </a:solidFill>
                <a:latin typeface="Times New Roman" panose="02020603050405020304" pitchFamily="18" charset="0"/>
                <a:cs typeface="Times New Roman" panose="02020603050405020304" pitchFamily="18" charset="0"/>
              </a:rPr>
              <a:t> </a:t>
            </a:r>
          </a:p>
          <a:p>
            <a:r>
              <a:rPr lang="en-US" dirty="0">
                <a:solidFill>
                  <a:schemeClr val="accent1">
                    <a:lumMod val="50000"/>
                  </a:schemeClr>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Tomlinson, JJ, The Changing Dynamics of Afghan Migration after August 2021, March 2024, September 28, 2025, </a:t>
            </a:r>
            <a:r>
              <a:rPr lang="en-US" dirty="0">
                <a:solidFill>
                  <a:schemeClr val="accent1">
                    <a:lumMod val="50000"/>
                  </a:schemeClr>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https://mixedmigration.org/wp-content/uploads/2023/03/266_Changing-Dynamics-Afghan-Migration.pdf</a:t>
            </a:r>
            <a:r>
              <a:rPr lang="en-US" dirty="0">
                <a:solidFill>
                  <a:schemeClr val="accent1">
                    <a:lumMod val="50000"/>
                  </a:schemeClr>
                </a:solidFill>
                <a:latin typeface="Times New Roman" panose="02020603050405020304" pitchFamily="18" charset="0"/>
                <a:cs typeface="Times New Roman" panose="02020603050405020304" pitchFamily="18" charset="0"/>
              </a:rPr>
              <a:t> </a:t>
            </a:r>
          </a:p>
          <a:p>
            <a:r>
              <a:rPr lang="en-US" dirty="0">
                <a:solidFill>
                  <a:schemeClr val="accent1">
                    <a:lumMod val="50000"/>
                  </a:schemeClr>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ANNUAL AGRICULTURAL STATISTICAL SURVEY: 2020, September 1, 2024, September 28, 2025, </a:t>
            </a:r>
            <a:r>
              <a:rPr lang="en-US" dirty="0">
                <a:solidFill>
                  <a:schemeClr val="accent1">
                    <a:lumMod val="50000"/>
                  </a:schemeClr>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https://www.statistics.gr/documents/20181/18166418/Annual+Agricultural+Statistical+Survey+(Final+Results)+(+2020+).pdf/ba0e1942-afaf-12b2-1984-e065f6bd3d72?t=1693558783605</a:t>
            </a:r>
            <a:r>
              <a:rPr lang="en-US" dirty="0">
                <a:solidFill>
                  <a:schemeClr val="accent1">
                    <a:lumMod val="50000"/>
                  </a:schemeClr>
                </a:solidFill>
                <a:latin typeface="Times New Roman" panose="02020603050405020304" pitchFamily="18" charset="0"/>
                <a:cs typeface="Times New Roman" panose="02020603050405020304" pitchFamily="18" charset="0"/>
              </a:rPr>
              <a:t> </a:t>
            </a:r>
          </a:p>
          <a:p>
            <a:r>
              <a:rPr lang="en-US" dirty="0">
                <a:solidFill>
                  <a:schemeClr val="accent1">
                    <a:lumMod val="50000"/>
                  </a:schemeClr>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Borda, Balázs, Balogh, ANNUAL AGRICULTURAL STATISTICAL SURVEY: 2020, September 28, 2025,  </a:t>
            </a:r>
            <a:r>
              <a:rPr lang="en-US" dirty="0">
                <a:solidFill>
                  <a:schemeClr val="accent1">
                    <a:lumMod val="50000"/>
                  </a:schemeClr>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https://www.statistics.gr/documents/20181/18166418/Annual+Agricultural+Statistical+Survey+(Final+Results)+(+2020+).pdf/ba0e1942-afaf-12b2-1984-e065f6bd3d72?t=1693558783605</a:t>
            </a:r>
            <a:r>
              <a:rPr lang="en-US" dirty="0">
                <a:solidFill>
                  <a:schemeClr val="accent1">
                    <a:lumMod val="50000"/>
                  </a:schemeClr>
                </a:solidFill>
                <a:latin typeface="Times New Roman" panose="02020603050405020304" pitchFamily="18" charset="0"/>
                <a:cs typeface="Times New Roman" panose="02020603050405020304" pitchFamily="18" charset="0"/>
              </a:rPr>
              <a:t> </a:t>
            </a:r>
          </a:p>
          <a:p>
            <a:r>
              <a:rPr lang="en-US" dirty="0">
                <a:solidFill>
                  <a:schemeClr val="accent1">
                    <a:lumMod val="50000"/>
                  </a:schemeClr>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Greece - Data Commons, Home - Data Commons, September 28, 2025, </a:t>
            </a:r>
            <a:r>
              <a:rPr lang="en-US" dirty="0">
                <a:solidFill>
                  <a:schemeClr val="accent1">
                    <a:lumMod val="50000"/>
                  </a:schemeClr>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https://datacommons.org/place/country/GRC?utm_medium=explore&amp;mprop=amount&amp;popt=EconomicActivity&amp;cpv=activitySource%2CGrossDomesticProduction&amp;hl=en</a:t>
            </a:r>
            <a:r>
              <a:rPr lang="en-US" dirty="0">
                <a:solidFill>
                  <a:schemeClr val="accent1">
                    <a:lumMod val="50000"/>
                  </a:schemeClr>
                </a:solidFill>
                <a:latin typeface="Times New Roman" panose="02020603050405020304" pitchFamily="18" charset="0"/>
                <a:cs typeface="Times New Roman" panose="02020603050405020304" pitchFamily="18" charset="0"/>
              </a:rPr>
              <a:t> </a:t>
            </a:r>
          </a:p>
        </p:txBody>
      </p:sp>
      <p:sp>
        <p:nvSpPr>
          <p:cNvPr id="8" name="TextBox 7">
            <a:extLst>
              <a:ext uri="{FF2B5EF4-FFF2-40B4-BE49-F238E27FC236}">
                <a16:creationId xmlns:a16="http://schemas.microsoft.com/office/drawing/2014/main" id="{95A297A7-7AE6-2555-3E84-E05EB3F564E0}"/>
              </a:ext>
            </a:extLst>
          </p:cNvPr>
          <p:cNvSpPr txBox="1"/>
          <p:nvPr/>
        </p:nvSpPr>
        <p:spPr>
          <a:xfrm>
            <a:off x="2942492" y="172664"/>
            <a:ext cx="6307016" cy="769441"/>
          </a:xfrm>
          <a:prstGeom prst="rect">
            <a:avLst/>
          </a:prstGeom>
          <a:noFill/>
        </p:spPr>
        <p:txBody>
          <a:bodyPr wrap="square" rtlCol="0">
            <a:spAutoFit/>
          </a:bodyPr>
          <a:lstStyle/>
          <a:p>
            <a:pPr algn="ctr"/>
            <a:r>
              <a:rPr lang="en-US" sz="4400" dirty="0">
                <a:solidFill>
                  <a:schemeClr val="bg1"/>
                </a:solidFill>
                <a:latin typeface="Times New Roman" panose="02020603050405020304" pitchFamily="18" charset="0"/>
                <a:cs typeface="Times New Roman" panose="02020603050405020304" pitchFamily="18" charset="0"/>
              </a:rPr>
              <a:t>Citations</a:t>
            </a:r>
          </a:p>
        </p:txBody>
      </p:sp>
    </p:spTree>
    <p:extLst>
      <p:ext uri="{BB962C8B-B14F-4D97-AF65-F5344CB8AC3E}">
        <p14:creationId xmlns:p14="http://schemas.microsoft.com/office/powerpoint/2010/main" val="3917155958"/>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A7AA85E7942F249A78E7378F848E913" ma:contentTypeVersion="4" ma:contentTypeDescription="Create a new document." ma:contentTypeScope="" ma:versionID="cc084131eb067a8f48a832ccf8b58160">
  <xsd:schema xmlns:xsd="http://www.w3.org/2001/XMLSchema" xmlns:xs="http://www.w3.org/2001/XMLSchema" xmlns:p="http://schemas.microsoft.com/office/2006/metadata/properties" xmlns:ns3="4d6f6fa5-3307-4669-b3e5-2de417ebd81b" targetNamespace="http://schemas.microsoft.com/office/2006/metadata/properties" ma:root="true" ma:fieldsID="360b31dba4be955a27f38e82a9e7e26c" ns3:_="">
    <xsd:import namespace="4d6f6fa5-3307-4669-b3e5-2de417ebd81b"/>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6f6fa5-3307-4669-b3e5-2de417ebd81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1158737-E0E0-4D83-8F54-09EFCDB864A6}">
  <ds:schemaRefs>
    <ds:schemaRef ds:uri="http://schemas.microsoft.com/sharepoint/v3/contenttype/forms"/>
  </ds:schemaRefs>
</ds:datastoreItem>
</file>

<file path=customXml/itemProps2.xml><?xml version="1.0" encoding="utf-8"?>
<ds:datastoreItem xmlns:ds="http://schemas.openxmlformats.org/officeDocument/2006/customXml" ds:itemID="{FAAA3951-F551-44EE-BAC5-50A66E141B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d6f6fa5-3307-4669-b3e5-2de417ebd8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EFA973E-F2EE-4189-A519-B8C55BD8B185}">
  <ds:schemaRefs>
    <ds:schemaRef ds:uri="http://www.w3.org/XML/1998/namespace"/>
    <ds:schemaRef ds:uri="4d6f6fa5-3307-4669-b3e5-2de417ebd81b"/>
    <ds:schemaRef ds:uri="http://purl.org/dc/elements/1.1/"/>
    <ds:schemaRef ds:uri="http://schemas.microsoft.com/office/infopath/2007/PartnerControls"/>
    <ds:schemaRef ds:uri="http://schemas.microsoft.com/office/2006/documentManagement/types"/>
    <ds:schemaRef ds:uri="http://purl.org/dc/terms/"/>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2225</TotalTime>
  <Words>1739</Words>
  <Application>Microsoft Office PowerPoint</Application>
  <PresentationFormat>Widescreen</PresentationFormat>
  <Paragraphs>48</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Neue Haas Grotesk Text Pro</vt:lpstr>
      <vt:lpstr>Times New Roman</vt:lpstr>
      <vt:lpstr>VanillaVTI</vt:lpstr>
      <vt:lpstr>Group Immigration in Greece</vt:lpstr>
      <vt:lpstr>Afghan asylum-seeker’s Journey</vt:lpstr>
      <vt:lpstr>Push and Pull Factors For Afghan Asylum-See</vt:lpstr>
      <vt:lpstr>Immigration to Greece</vt:lpstr>
      <vt:lpstr>Afghan Migrants’ Impact</vt:lpstr>
      <vt:lpstr> This map indicates the patterns of movement throughout the Middle East to Europe. Afghan migrants who were escaping from the Taliban's Regime passed through Iran, Turkey, and waited for acceptance to Greece(usually their pathway to Europe). Many times, migrants were documented to cross borders illegally and die by border control.  Greece had restrictive policies on acceptance in mid-September of 2021, declaring Turkey, Albania, and North Macedonia as potential locations for asylum-seekers. Greece’s Safe Third Country Policy was met with heavy criticism. When migrants arrived in the refugee camps on Greece’s islands, they waited –sometimes months– before rejection or acceptance. </vt:lpstr>
      <vt:lpstr>Afghan Density Globally</vt:lpstr>
      <vt:lpstr>Afghan Migrant’s Remittances</vt:lpstr>
      <vt:lpstr>Afghan Food reaching Greece</vt:lpstr>
      <vt:lpstr>Afghans’ Suitcase</vt:lpstr>
      <vt:lpstr>Citations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Syona Negi (Student)</dc:creator>
  <cp:lastModifiedBy>Syona Negi (Student)</cp:lastModifiedBy>
  <cp:revision>2</cp:revision>
  <dcterms:created xsi:type="dcterms:W3CDTF">2025-09-17T23:26:55Z</dcterms:created>
  <dcterms:modified xsi:type="dcterms:W3CDTF">2025-09-29T14:54:12Z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0x010100EA7AA85E7942F249A78E7378F848E913</vt:lpwstr>
  </property>
</Properties>
</file>