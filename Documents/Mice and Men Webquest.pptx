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60" r:id="rId7"/>
    <p:sldId id="257" r:id="rId8"/>
    <p:sldId id="259"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C49100-7E36-4D3E-AC31-2447B9B74BC9}" v="75" dt="2025-09-06T00:50:04.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55" autoAdjust="0"/>
    <p:restoredTop sz="94660"/>
  </p:normalViewPr>
  <p:slideViewPr>
    <p:cSldViewPr snapToGrid="0">
      <p:cViewPr varScale="1">
        <p:scale>
          <a:sx n="49" d="100"/>
          <a:sy n="49" d="100"/>
        </p:scale>
        <p:origin x="63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D4A8C-6C91-A39C-9FCA-E022E45446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00D39B-0DD2-9833-2DD5-B31C7ABF64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49708A-16F9-2E40-317D-5E018F851182}"/>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59CEB963-7167-B2A5-2AB3-29C5A88B2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A741FF-F729-F6F1-A3CC-22C958C8DDC3}"/>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104682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9AA2-78A4-83D6-2FAD-EB84659A56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D02E02-3385-4E04-3216-452E24CBAF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11467F-29D7-FAB9-189C-A9C5A7F20CD1}"/>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00E0E0E7-A425-79C7-5624-2D54C035F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F55CF-C626-F4EC-5E6B-42708ED8126E}"/>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3745270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9300-805A-822B-32BD-AB3348A26E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29C21F-F8E2-DB02-5650-3057D45051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8F59FE-7BFD-5907-A571-AB19DF2BA7EF}"/>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1D7A7E67-DF11-BA92-932E-981057136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A46D3D-51D8-E172-521C-B6EDC0BD7AB4}"/>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2306861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2E84-9146-FE1D-191F-D6FF67C97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C4E489-98B3-52F4-7A3F-F773D32AFC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E578BB-ED68-DF02-F898-D8D1F67C77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804971-9345-8F39-F17B-C39AEF715BAC}"/>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6" name="Footer Placeholder 5">
            <a:extLst>
              <a:ext uri="{FF2B5EF4-FFF2-40B4-BE49-F238E27FC236}">
                <a16:creationId xmlns:a16="http://schemas.microsoft.com/office/drawing/2014/main" id="{1790841A-A602-0A58-A346-BDD8B1ED2D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C4D5A-62F6-6CC1-7CBE-5CABC9B62F6D}"/>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2362805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BD38E-C9EA-9E18-240B-15A0BFA7C2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BA0958-20DE-7A6A-B871-751A3890B4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0FF377-38A3-8AE1-33AA-00FF03FBDE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863755-5ACC-6137-1B46-5284C7BF29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DA0A10-6357-BCE0-BEE8-51F3530DFB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DB67A-933A-2CDB-25BF-33D853A2DA62}"/>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8" name="Footer Placeholder 7">
            <a:extLst>
              <a:ext uri="{FF2B5EF4-FFF2-40B4-BE49-F238E27FC236}">
                <a16:creationId xmlns:a16="http://schemas.microsoft.com/office/drawing/2014/main" id="{4686B99B-1942-FC4F-F096-029CAE7BC1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EE2320-216C-1DDF-3996-EC47D6A8D3D4}"/>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3501183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9CCE-C77B-B73F-90E7-4E760CDAC8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45FB71-1E09-2493-2402-8F341F037974}"/>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4" name="Footer Placeholder 3">
            <a:extLst>
              <a:ext uri="{FF2B5EF4-FFF2-40B4-BE49-F238E27FC236}">
                <a16:creationId xmlns:a16="http://schemas.microsoft.com/office/drawing/2014/main" id="{ABA8EE27-5AAA-F726-687B-F305509C90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10CB35-AEBD-796F-B0AC-97ABE828B1B0}"/>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2770398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5DCF3A-8AA6-8797-F844-63FA554E8BEC}"/>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3" name="Footer Placeholder 2">
            <a:extLst>
              <a:ext uri="{FF2B5EF4-FFF2-40B4-BE49-F238E27FC236}">
                <a16:creationId xmlns:a16="http://schemas.microsoft.com/office/drawing/2014/main" id="{70ABB603-4CDF-32FD-9AA2-F7EAA401FE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4D56FF-E6AC-DC2E-BE2A-6B618B3F3868}"/>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3323608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38D1-D73A-5DAC-CFA0-FCEFE4D880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53EE1F-D477-5CD7-76AF-3853924CA6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6B648E-608B-EE06-0022-0DE9B1863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0C3F9-94D3-788C-09D2-13B1D616B58B}"/>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6" name="Footer Placeholder 5">
            <a:extLst>
              <a:ext uri="{FF2B5EF4-FFF2-40B4-BE49-F238E27FC236}">
                <a16:creationId xmlns:a16="http://schemas.microsoft.com/office/drawing/2014/main" id="{3ABB2E50-23F7-0DB7-E33C-4018EA66F2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9FF8A6-C38C-5C6B-69DA-AE98DCC3726B}"/>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2219901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B8A6-AFD5-2F1A-1F7C-3EF85D6870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29501E-26F4-BDA5-C2E3-E121D05822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CB1493-EA84-58B9-E9E1-261D6519D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5E64E5-7848-014C-96AB-117BB394D6D4}"/>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6" name="Footer Placeholder 5">
            <a:extLst>
              <a:ext uri="{FF2B5EF4-FFF2-40B4-BE49-F238E27FC236}">
                <a16:creationId xmlns:a16="http://schemas.microsoft.com/office/drawing/2014/main" id="{ABD6D2BB-2DC0-A96D-AA37-B83792B224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850608-17EE-90FF-FCC4-835912F09522}"/>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309450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9E812-D3EF-E210-1576-B6608EC05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ABE7EB-BF3D-8A74-F056-6C84658245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2A339-C261-DDB0-509A-FE03A73A9086}"/>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08870C52-569C-C816-5ED2-ACF548B6D9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F6DDC-CC16-68C7-C685-EE963658AF2B}"/>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189031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863E58-1E8B-53D0-1363-53ADA72A92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0A7D8-8DFE-1947-6038-208C29A22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7351AF-8424-1DC3-7F1B-88EB4F3CD72F}"/>
              </a:ext>
            </a:extLst>
          </p:cNvPr>
          <p:cNvSpPr>
            <a:spLocks noGrp="1"/>
          </p:cNvSpPr>
          <p:nvPr>
            <p:ph type="dt" sz="half" idx="10"/>
          </p:nvPr>
        </p:nvSpPr>
        <p:spPr/>
        <p:txBody>
          <a:body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B98804C1-317D-9744-8D4A-BD2837A2F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ECC38-7A89-474F-0424-6113F85AD0B2}"/>
              </a:ext>
            </a:extLst>
          </p:cNvPr>
          <p:cNvSpPr>
            <a:spLocks noGrp="1"/>
          </p:cNvSpPr>
          <p:nvPr>
            <p:ph type="sldNum" sz="quarter" idx="12"/>
          </p:nvPr>
        </p:nvSpPr>
        <p:spPr/>
        <p:txBody>
          <a:bodyPr/>
          <a:lstStyle/>
          <a:p>
            <a:fld id="{4E78F1C2-E47F-4613-BA87-3324E6115A9C}" type="slidenum">
              <a:rPr lang="en-US" smtClean="0"/>
              <a:t>‹#›</a:t>
            </a:fld>
            <a:endParaRPr lang="en-US"/>
          </a:p>
        </p:txBody>
      </p:sp>
    </p:spTree>
    <p:extLst>
      <p:ext uri="{BB962C8B-B14F-4D97-AF65-F5344CB8AC3E}">
        <p14:creationId xmlns:p14="http://schemas.microsoft.com/office/powerpoint/2010/main" val="1017647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F26F5F-5BE8-4420-FB94-68FB195B72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A60BAC-8120-E038-FC4C-43584311C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5B7B7-5863-7562-298D-C48A505B1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BF514D-4E77-4EEA-A36F-D4DD90C88DCD}" type="datetimeFigureOut">
              <a:rPr lang="en-US" smtClean="0"/>
              <a:t>9/9/2025</a:t>
            </a:fld>
            <a:endParaRPr lang="en-US"/>
          </a:p>
        </p:txBody>
      </p:sp>
      <p:sp>
        <p:nvSpPr>
          <p:cNvPr id="5" name="Footer Placeholder 4">
            <a:extLst>
              <a:ext uri="{FF2B5EF4-FFF2-40B4-BE49-F238E27FC236}">
                <a16:creationId xmlns:a16="http://schemas.microsoft.com/office/drawing/2014/main" id="{06771800-AAFD-0918-7B11-C95854AE5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D56B83-B7C5-259E-5099-6DD1B1E0B7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78F1C2-E47F-4613-BA87-3324E6115A9C}" type="slidenum">
              <a:rPr lang="en-US" smtClean="0"/>
              <a:t>‹#›</a:t>
            </a:fld>
            <a:endParaRPr lang="en-US"/>
          </a:p>
        </p:txBody>
      </p:sp>
    </p:spTree>
    <p:extLst>
      <p:ext uri="{BB962C8B-B14F-4D97-AF65-F5344CB8AC3E}">
        <p14:creationId xmlns:p14="http://schemas.microsoft.com/office/powerpoint/2010/main" val="2473724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istory.com: The Great Depression">
            <a:extLst>
              <a:ext uri="{FF2B5EF4-FFF2-40B4-BE49-F238E27FC236}">
                <a16:creationId xmlns:a16="http://schemas.microsoft.com/office/drawing/2014/main" id="{8339504B-D6DA-6FA4-0212-EC2CC1DE03EB}"/>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4FF0E90-2BB4-EDE5-4A27-BEC6CB85FD60}"/>
              </a:ext>
            </a:extLst>
          </p:cNvPr>
          <p:cNvSpPr>
            <a:spLocks noGrp="1"/>
          </p:cNvSpPr>
          <p:nvPr>
            <p:ph type="ctrTitle"/>
          </p:nvPr>
        </p:nvSpPr>
        <p:spPr>
          <a:xfrm>
            <a:off x="1524000" y="2254411"/>
            <a:ext cx="9144000" cy="1080466"/>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The Great Depression</a:t>
            </a:r>
          </a:p>
        </p:txBody>
      </p:sp>
      <p:sp>
        <p:nvSpPr>
          <p:cNvPr id="3" name="Subtitle 2">
            <a:extLst>
              <a:ext uri="{FF2B5EF4-FFF2-40B4-BE49-F238E27FC236}">
                <a16:creationId xmlns:a16="http://schemas.microsoft.com/office/drawing/2014/main" id="{FB4D4748-65A2-FDE1-FD6D-34F33BC34161}"/>
              </a:ext>
            </a:extLst>
          </p:cNvPr>
          <p:cNvSpPr>
            <a:spLocks noGrp="1"/>
          </p:cNvSpPr>
          <p:nvPr>
            <p:ph type="subTitle" idx="1"/>
          </p:nvPr>
        </p:nvSpPr>
        <p:spPr>
          <a:xfrm>
            <a:off x="1524000" y="3711179"/>
            <a:ext cx="9144000" cy="1098395"/>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Its Effect on Literature and Americans</a:t>
            </a:r>
          </a:p>
          <a:p>
            <a:r>
              <a:rPr lang="en-US" dirty="0">
                <a:solidFill>
                  <a:srgbClr val="FFFFFF"/>
                </a:solidFill>
                <a:latin typeface="Times New Roman" panose="02020603050405020304" pitchFamily="18" charset="0"/>
                <a:cs typeface="Times New Roman" panose="02020603050405020304" pitchFamily="18" charset="0"/>
              </a:rPr>
              <a:t>By Syona Negi</a:t>
            </a:r>
          </a:p>
        </p:txBody>
      </p:sp>
    </p:spTree>
    <p:extLst>
      <p:ext uri="{BB962C8B-B14F-4D97-AF65-F5344CB8AC3E}">
        <p14:creationId xmlns:p14="http://schemas.microsoft.com/office/powerpoint/2010/main" val="378466129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2" name="Rectangle 207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Photo Gallery | The Great Depression">
            <a:extLst>
              <a:ext uri="{FF2B5EF4-FFF2-40B4-BE49-F238E27FC236}">
                <a16:creationId xmlns:a16="http://schemas.microsoft.com/office/drawing/2014/main" id="{51AADB5F-67CB-7768-B519-942CB671529E}"/>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14633" r="1" b="42758"/>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BB8D767-82EC-7533-2E1E-F8679F56A8C4}"/>
              </a:ext>
            </a:extLst>
          </p:cNvPr>
          <p:cNvSpPr>
            <a:spLocks noGrp="1"/>
          </p:cNvSpPr>
          <p:nvPr>
            <p:ph type="title"/>
          </p:nvPr>
        </p:nvSpPr>
        <p:spPr>
          <a:xfrm>
            <a:off x="838200" y="365125"/>
            <a:ext cx="10515600" cy="1325563"/>
          </a:xfrm>
        </p:spPr>
        <p:txBody>
          <a:bodyPr>
            <a:normAutofit/>
          </a:bodyPr>
          <a:lstStyle/>
          <a:p>
            <a:pPr algn="ctr"/>
            <a:r>
              <a:rPr lang="en-US" dirty="0">
                <a:solidFill>
                  <a:srgbClr val="FFFFFF"/>
                </a:solidFill>
                <a:latin typeface="Times New Roman" panose="02020603050405020304" pitchFamily="18" charset="0"/>
                <a:cs typeface="Times New Roman" panose="02020603050405020304" pitchFamily="18" charset="0"/>
              </a:rPr>
              <a:t>What was the Great Depression?</a:t>
            </a:r>
          </a:p>
        </p:txBody>
      </p:sp>
      <p:sp>
        <p:nvSpPr>
          <p:cNvPr id="3" name="Content Placeholder 2">
            <a:extLst>
              <a:ext uri="{FF2B5EF4-FFF2-40B4-BE49-F238E27FC236}">
                <a16:creationId xmlns:a16="http://schemas.microsoft.com/office/drawing/2014/main" id="{91BFBF44-78E5-6834-5146-A58C343F14A1}"/>
              </a:ext>
            </a:extLst>
          </p:cNvPr>
          <p:cNvSpPr>
            <a:spLocks noGrp="1"/>
          </p:cNvSpPr>
          <p:nvPr>
            <p:ph idx="1"/>
          </p:nvPr>
        </p:nvSpPr>
        <p:spPr>
          <a:xfrm>
            <a:off x="838200" y="1825625"/>
            <a:ext cx="10515600" cy="4351338"/>
          </a:xfrm>
        </p:spPr>
        <p:txBody>
          <a:bodyPr>
            <a:normAutofit/>
          </a:bodyPr>
          <a:lstStyle/>
          <a:p>
            <a:pPr marL="0" indent="0">
              <a:buNone/>
            </a:pPr>
            <a:r>
              <a:rPr lang="en-US" dirty="0">
                <a:solidFill>
                  <a:srgbClr val="FFFFFF"/>
                </a:solidFill>
                <a:latin typeface="Times New Roman" panose="02020603050405020304" pitchFamily="18" charset="0"/>
                <a:cs typeface="Times New Roman" panose="02020603050405020304" pitchFamily="18" charset="0"/>
              </a:rPr>
              <a:t>	The Great Depression was a time of economic downturn after the crash of the stock market in 1929 and the banking failure. Prior, Murray Rothard wrote, “It is undeniable that ever since the Fed…our inflations have been more intense, and our depressions far deeper than ever before.” The Fed was already loaning money to banks which resulted in banks taking riskier loans. Between 1929 and 1933, unemployment in the U.S. started from 3.2% to 24.9%. The Great Depression caused a sharp increase in protest and hatred for capitalism. Finding jobs was harder as companies could not sustain workers. The Great Depression was a time where the GDP became incredibly small in a short time. </a:t>
            </a:r>
          </a:p>
        </p:txBody>
      </p:sp>
    </p:spTree>
    <p:extLst>
      <p:ext uri="{BB962C8B-B14F-4D97-AF65-F5344CB8AC3E}">
        <p14:creationId xmlns:p14="http://schemas.microsoft.com/office/powerpoint/2010/main" val="415846895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B45B5-0722-E0F4-DA8C-0713D30D2C9F}"/>
            </a:ext>
          </a:extLst>
        </p:cNvPr>
        <p:cNvGrpSpPr/>
        <p:nvPr/>
      </p:nvGrpSpPr>
      <p:grpSpPr>
        <a:xfrm>
          <a:off x="0" y="0"/>
          <a:ext cx="0" cy="0"/>
          <a:chOff x="0" y="0"/>
          <a:chExt cx="0" cy="0"/>
        </a:xfrm>
      </p:grpSpPr>
      <p:sp>
        <p:nvSpPr>
          <p:cNvPr id="2072" name="Rectangle 2071">
            <a:extLst>
              <a:ext uri="{FF2B5EF4-FFF2-40B4-BE49-F238E27FC236}">
                <a16:creationId xmlns:a16="http://schemas.microsoft.com/office/drawing/2014/main" id="{8DBB25CB-8590-150B-71F0-A17226CDC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Photo Gallery | The Great Depression">
            <a:extLst>
              <a:ext uri="{FF2B5EF4-FFF2-40B4-BE49-F238E27FC236}">
                <a16:creationId xmlns:a16="http://schemas.microsoft.com/office/drawing/2014/main" id="{DD216AF4-F85E-D072-FBF4-EB50D68C5F6F}"/>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14633" r="1" b="42758"/>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FF85919-D99A-7917-963E-4D116DBC3A94}"/>
              </a:ext>
            </a:extLst>
          </p:cNvPr>
          <p:cNvSpPr>
            <a:spLocks noGrp="1"/>
          </p:cNvSpPr>
          <p:nvPr>
            <p:ph type="title"/>
          </p:nvPr>
        </p:nvSpPr>
        <p:spPr>
          <a:xfrm>
            <a:off x="838200" y="365125"/>
            <a:ext cx="10515600" cy="1325563"/>
          </a:xfrm>
        </p:spPr>
        <p:txBody>
          <a:bodyPr>
            <a:normAutofit/>
          </a:bodyPr>
          <a:lstStyle/>
          <a:p>
            <a:pPr algn="ctr"/>
            <a:r>
              <a:rPr lang="en-US">
                <a:solidFill>
                  <a:srgbClr val="FFFFFF"/>
                </a:solidFill>
                <a:latin typeface="Times New Roman" panose="02020603050405020304" pitchFamily="18" charset="0"/>
                <a:cs typeface="Times New Roman" panose="02020603050405020304" pitchFamily="18" charset="0"/>
              </a:rPr>
              <a:t>How did the Great Depression affect life?</a:t>
            </a:r>
            <a:endParaRPr lang="en-US"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917556-11B2-7ABA-0229-E3CAD1F182B0}"/>
              </a:ext>
            </a:extLst>
          </p:cNvPr>
          <p:cNvSpPr>
            <a:spLocks noGrp="1"/>
          </p:cNvSpPr>
          <p:nvPr>
            <p:ph idx="1"/>
          </p:nvPr>
        </p:nvSpPr>
        <p:spPr>
          <a:xfrm>
            <a:off x="838200" y="2022844"/>
            <a:ext cx="10515600" cy="3965575"/>
          </a:xfrm>
        </p:spPr>
        <p:txBody>
          <a:bodyPr>
            <a:normAutofit/>
          </a:bodyPr>
          <a:lstStyle/>
          <a:p>
            <a:pPr marL="0" indent="0">
              <a:buNone/>
            </a:pPr>
            <a:r>
              <a:rPr lang="en-US" dirty="0">
                <a:solidFill>
                  <a:srgbClr val="FFFFFF"/>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Great Depression rendered many families without a stable income or with small wages. With such little demand for over-inflated goods, the supply was reduced, and jobs were cut. Many families could not afford to feed all their children and had to choose. Widespread poverty and hunger defined the time of low employment and terrible conditions. Approximately one-fourth of Americans were unemployed, the rest battling reduced hours and lowering wages. Children started to work to support their families, finding whatever work they could. Daily life was bleak and was made up of finding work or doing chores at home. </a:t>
            </a:r>
          </a:p>
        </p:txBody>
      </p:sp>
    </p:spTree>
    <p:extLst>
      <p:ext uri="{BB962C8B-B14F-4D97-AF65-F5344CB8AC3E}">
        <p14:creationId xmlns:p14="http://schemas.microsoft.com/office/powerpoint/2010/main" val="1988337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9" name="Rectangle 307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The migrants in potato fields during the Great Depression | Coastal Review">
            <a:extLst>
              <a:ext uri="{FF2B5EF4-FFF2-40B4-BE49-F238E27FC236}">
                <a16:creationId xmlns:a16="http://schemas.microsoft.com/office/drawing/2014/main" id="{D703D613-A76D-16C5-7227-D932D10015D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b="22681"/>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093" name="Title 1">
            <a:extLst>
              <a:ext uri="{FF2B5EF4-FFF2-40B4-BE49-F238E27FC236}">
                <a16:creationId xmlns:a16="http://schemas.microsoft.com/office/drawing/2014/main" id="{1EC6459D-465C-3AFD-80AE-CBFDCA3B6EA3}"/>
              </a:ext>
            </a:extLst>
          </p:cNvPr>
          <p:cNvSpPr>
            <a:spLocks noGrp="1"/>
          </p:cNvSpPr>
          <p:nvPr>
            <p:ph type="title"/>
          </p:nvPr>
        </p:nvSpPr>
        <p:spPr>
          <a:xfrm>
            <a:off x="838200" y="365125"/>
            <a:ext cx="10515600" cy="1325563"/>
          </a:xfrm>
        </p:spPr>
        <p:txBody>
          <a:bodyPr>
            <a:normAutofit/>
          </a:bodyPr>
          <a:lstStyle/>
          <a:p>
            <a:pPr algn="ctr"/>
            <a:r>
              <a:rPr lang="en-US" dirty="0">
                <a:solidFill>
                  <a:srgbClr val="FFFFFF"/>
                </a:solidFill>
                <a:latin typeface="Times New Roman" panose="02020603050405020304" pitchFamily="18" charset="0"/>
                <a:cs typeface="Times New Roman" panose="02020603050405020304" pitchFamily="18" charset="0"/>
              </a:rPr>
              <a:t>Migrant Workers in 1930’s</a:t>
            </a:r>
          </a:p>
        </p:txBody>
      </p:sp>
      <p:sp>
        <p:nvSpPr>
          <p:cNvPr id="3" name="Content Placeholder 2">
            <a:extLst>
              <a:ext uri="{FF2B5EF4-FFF2-40B4-BE49-F238E27FC236}">
                <a16:creationId xmlns:a16="http://schemas.microsoft.com/office/drawing/2014/main" id="{E5BC5FAF-A5BD-B466-6C0A-26CFAC693320}"/>
              </a:ext>
            </a:extLst>
          </p:cNvPr>
          <p:cNvSpPr>
            <a:spLocks noGrp="1"/>
          </p:cNvSpPr>
          <p:nvPr>
            <p:ph idx="1"/>
          </p:nvPr>
        </p:nvSpPr>
        <p:spPr>
          <a:xfrm>
            <a:off x="555812" y="1690689"/>
            <a:ext cx="11080376" cy="4674252"/>
          </a:xfrm>
        </p:spPr>
        <p:txBody>
          <a:bodyPr>
            <a:normAutofit fontScale="92500" lnSpcReduction="10000"/>
          </a:bodyPr>
          <a:lstStyle/>
          <a:p>
            <a:pPr>
              <a:buFont typeface="Wingdings" panose="05000000000000000000" pitchFamily="2" charset="2"/>
              <a:buChar char="§"/>
            </a:pPr>
            <a:r>
              <a:rPr lang="en-US" dirty="0">
                <a:solidFill>
                  <a:srgbClr val="FFFFFF"/>
                </a:solidFill>
              </a:rPr>
              <a:t>	</a:t>
            </a:r>
            <a:r>
              <a:rPr lang="en-US" dirty="0">
                <a:solidFill>
                  <a:srgbClr val="FFFFFF"/>
                </a:solidFill>
                <a:latin typeface="Times New Roman" panose="02020603050405020304" pitchFamily="18" charset="0"/>
                <a:cs typeface="Times New Roman" panose="02020603050405020304" pitchFamily="18" charset="0"/>
              </a:rPr>
              <a:t>Migrant Workers were relocated because of the Dust Bowl since they were dependent of the land which was rendered unworkable. They went to larger, urban areas to look for jobs, usually with no avail. Most became homeless because of their conquest to move West. </a:t>
            </a:r>
          </a:p>
          <a:p>
            <a:pPr>
              <a:buFont typeface="Wingdings" panose="05000000000000000000" pitchFamily="2" charset="2"/>
              <a:buChar char="§"/>
            </a:pPr>
            <a:r>
              <a:rPr lang="en-US" dirty="0">
                <a:solidFill>
                  <a:srgbClr val="FFFFFF"/>
                </a:solidFill>
                <a:latin typeface="Times New Roman" panose="02020603050405020304" pitchFamily="18" charset="0"/>
                <a:cs typeface="Times New Roman" panose="02020603050405020304" pitchFamily="18" charset="0"/>
              </a:rPr>
              <a:t>	In California, migrant workers looked for jobs with little success, as everyone was struggling to find work. Californian workers were discriminatory to Okie or Mexican farmers looking for jobs; some were even turned away from the borders. </a:t>
            </a:r>
          </a:p>
          <a:p>
            <a:pPr>
              <a:buFont typeface="Wingdings" panose="05000000000000000000" pitchFamily="2" charset="2"/>
              <a:buChar char="§"/>
            </a:pPr>
            <a:r>
              <a:rPr lang="en-US" dirty="0">
                <a:solidFill>
                  <a:srgbClr val="FFFFFF"/>
                </a:solidFill>
                <a:latin typeface="Times New Roman" panose="02020603050405020304" pitchFamily="18" charset="0"/>
                <a:cs typeface="Times New Roman" panose="02020603050405020304" pitchFamily="18" charset="0"/>
              </a:rPr>
              <a:t>	The few who did find jobs worked in poor hygiene and sanitation with decreasing wages to feed growing families. The lack of resources turned poor hygiene and sanitation into widespread disease. The toil did not equate to the low wages given the workers. Migrant workers’ camps were characterized by extreme poverty, starvation, and filth.</a:t>
            </a:r>
          </a:p>
        </p:txBody>
      </p:sp>
    </p:spTree>
    <p:extLst>
      <p:ext uri="{BB962C8B-B14F-4D97-AF65-F5344CB8AC3E}">
        <p14:creationId xmlns:p14="http://schemas.microsoft.com/office/powerpoint/2010/main" val="91984872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About John Steinbeck, Author of The Grapes of Wrath | Steinbeck Now">
            <a:extLst>
              <a:ext uri="{FF2B5EF4-FFF2-40B4-BE49-F238E27FC236}">
                <a16:creationId xmlns:a16="http://schemas.microsoft.com/office/drawing/2014/main" id="{5C1ACA9B-FE68-BA8F-B087-3CF33442D6D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14078" r="-2" b="31077"/>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8784D2-DEE8-A50E-D395-63BB5DDBFBBE}"/>
              </a:ext>
            </a:extLst>
          </p:cNvPr>
          <p:cNvSpPr>
            <a:spLocks noGrp="1"/>
          </p:cNvSpPr>
          <p:nvPr>
            <p:ph type="title"/>
          </p:nvPr>
        </p:nvSpPr>
        <p:spPr>
          <a:xfrm>
            <a:off x="838200" y="751063"/>
            <a:ext cx="10515600" cy="1325563"/>
          </a:xfrm>
        </p:spPr>
        <p:txBody>
          <a:bodyPr>
            <a:normAutofit/>
          </a:bodyPr>
          <a:lstStyle/>
          <a:p>
            <a:pPr algn="ctr"/>
            <a:r>
              <a:rPr lang="en-US" dirty="0">
                <a:solidFill>
                  <a:srgbClr val="FFFFFF"/>
                </a:solidFill>
                <a:latin typeface="Times New Roman" panose="02020603050405020304" pitchFamily="18" charset="0"/>
                <a:cs typeface="Times New Roman" panose="02020603050405020304" pitchFamily="18" charset="0"/>
              </a:rPr>
              <a:t>Who was John Steinbeck? </a:t>
            </a:r>
          </a:p>
        </p:txBody>
      </p:sp>
      <p:sp>
        <p:nvSpPr>
          <p:cNvPr id="3" name="Content Placeholder 2">
            <a:extLst>
              <a:ext uri="{FF2B5EF4-FFF2-40B4-BE49-F238E27FC236}">
                <a16:creationId xmlns:a16="http://schemas.microsoft.com/office/drawing/2014/main" id="{B32917BB-2116-A96E-58D7-E7AA46FB4C04}"/>
              </a:ext>
            </a:extLst>
          </p:cNvPr>
          <p:cNvSpPr>
            <a:spLocks noGrp="1"/>
          </p:cNvSpPr>
          <p:nvPr>
            <p:ph idx="1"/>
          </p:nvPr>
        </p:nvSpPr>
        <p:spPr>
          <a:xfrm>
            <a:off x="838200" y="2058702"/>
            <a:ext cx="10515600" cy="3947646"/>
          </a:xfrm>
        </p:spPr>
        <p:txBody>
          <a:bodyPr>
            <a:normAutofit/>
          </a:bodyPr>
          <a:lstStyle/>
          <a:p>
            <a:pPr marL="0" indent="0">
              <a:buNone/>
            </a:pPr>
            <a:r>
              <a:rPr lang="en-US" dirty="0">
                <a:solidFill>
                  <a:srgbClr val="FFFFFF"/>
                </a:solidFill>
              </a:rPr>
              <a:t>	John Steinbeck(1914-1968) established himself as an author by publishing short works, growing famous for his </a:t>
            </a:r>
            <a:r>
              <a:rPr lang="en-US" i="1" dirty="0">
                <a:solidFill>
                  <a:srgbClr val="FFFFFF"/>
                </a:solidFill>
              </a:rPr>
              <a:t>Tortilla Flat (1930), Of Mice and Men(1937), </a:t>
            </a:r>
            <a:r>
              <a:rPr lang="en-US" dirty="0">
                <a:solidFill>
                  <a:srgbClr val="FFFFFF"/>
                </a:solidFill>
              </a:rPr>
              <a:t>and </a:t>
            </a:r>
            <a:r>
              <a:rPr lang="en-US" i="1" dirty="0">
                <a:solidFill>
                  <a:srgbClr val="FFFFFF"/>
                </a:solidFill>
              </a:rPr>
              <a:t>Grapes of Wrath(1939). </a:t>
            </a:r>
            <a:r>
              <a:rPr lang="en-US" dirty="0">
                <a:solidFill>
                  <a:srgbClr val="FFFFFF"/>
                </a:solidFill>
              </a:rPr>
              <a:t>He wrote conveying clear morals for his novels, usually portraying poor working-class laborers. He experienced the economic hardship first-hand, living through the Great Depression in California. </a:t>
            </a:r>
            <a:r>
              <a:rPr lang="en-US" i="1" dirty="0">
                <a:solidFill>
                  <a:srgbClr val="FFFFFF"/>
                </a:solidFill>
              </a:rPr>
              <a:t>Of Mice and Men</a:t>
            </a:r>
            <a:r>
              <a:rPr lang="en-US" dirty="0">
                <a:solidFill>
                  <a:srgbClr val="FFFFFF"/>
                </a:solidFill>
              </a:rPr>
              <a:t> was a tool for raising awareness of the harsh conditions of not only the Great Depression but the lives that were affected by it. Steinbeck worked as a hired hand for farmers where he witnessed the conditions firsthand. </a:t>
            </a:r>
            <a:endParaRPr lang="en-US" i="1" dirty="0">
              <a:solidFill>
                <a:srgbClr val="FFFFFF"/>
              </a:solidFill>
            </a:endParaRPr>
          </a:p>
        </p:txBody>
      </p:sp>
    </p:spTree>
    <p:extLst>
      <p:ext uri="{BB962C8B-B14F-4D97-AF65-F5344CB8AC3E}">
        <p14:creationId xmlns:p14="http://schemas.microsoft.com/office/powerpoint/2010/main" val="218516932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AACC88-A4FD-6165-484E-F0EA35598494}"/>
            </a:ext>
          </a:extLst>
        </p:cNvPr>
        <p:cNvGrpSpPr/>
        <p:nvPr/>
      </p:nvGrpSpPr>
      <p:grpSpPr>
        <a:xfrm>
          <a:off x="0" y="0"/>
          <a:ext cx="0" cy="0"/>
          <a:chOff x="0" y="0"/>
          <a:chExt cx="0" cy="0"/>
        </a:xfrm>
      </p:grpSpPr>
      <p:sp>
        <p:nvSpPr>
          <p:cNvPr id="4103" name="Rectangle 4102">
            <a:extLst>
              <a:ext uri="{FF2B5EF4-FFF2-40B4-BE49-F238E27FC236}">
                <a16:creationId xmlns:a16="http://schemas.microsoft.com/office/drawing/2014/main" id="{E0413F1F-41A8-C06E-B723-55179A715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About John Steinbeck, Author of The Grapes of Wrath | Steinbeck Now">
            <a:extLst>
              <a:ext uri="{FF2B5EF4-FFF2-40B4-BE49-F238E27FC236}">
                <a16:creationId xmlns:a16="http://schemas.microsoft.com/office/drawing/2014/main" id="{AF7A0D0E-283E-9733-BE6D-5D1DCCCF0F54}"/>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t="14078" r="-2" b="31077"/>
          <a:stretch>
            <a:fillRect/>
          </a:stretch>
        </p:blipFill>
        <p:spPr bwMode="auto">
          <a:xfrm>
            <a:off x="20" y="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6066B10-E526-8B52-7146-57B9AE1C45E5}"/>
              </a:ext>
            </a:extLst>
          </p:cNvPr>
          <p:cNvSpPr>
            <a:spLocks noGrp="1"/>
          </p:cNvSpPr>
          <p:nvPr>
            <p:ph type="title"/>
          </p:nvPr>
        </p:nvSpPr>
        <p:spPr>
          <a:xfrm>
            <a:off x="838200" y="741634"/>
            <a:ext cx="10515600" cy="1325563"/>
          </a:xfrm>
        </p:spPr>
        <p:txBody>
          <a:bodyPr>
            <a:normAutofit/>
          </a:bodyPr>
          <a:lstStyle/>
          <a:p>
            <a:pPr algn="ctr"/>
            <a:r>
              <a:rPr lang="en-US" sz="4200" dirty="0">
                <a:solidFill>
                  <a:srgbClr val="FFFFFF"/>
                </a:solidFill>
                <a:latin typeface="Times New Roman" panose="02020603050405020304" pitchFamily="18" charset="0"/>
                <a:cs typeface="Times New Roman" panose="02020603050405020304" pitchFamily="18" charset="0"/>
              </a:rPr>
              <a:t>What was the inspiration for </a:t>
            </a:r>
            <a:r>
              <a:rPr lang="en-US" sz="4200" i="1" dirty="0">
                <a:solidFill>
                  <a:srgbClr val="FFFFFF"/>
                </a:solidFill>
                <a:latin typeface="Times New Roman" panose="02020603050405020304" pitchFamily="18" charset="0"/>
                <a:cs typeface="Times New Roman" panose="02020603050405020304" pitchFamily="18" charset="0"/>
              </a:rPr>
              <a:t>Of Mice and Men</a:t>
            </a:r>
            <a:r>
              <a:rPr lang="en-US" sz="4200" dirty="0">
                <a:solidFill>
                  <a:srgbClr val="FFFFFF"/>
                </a:solidFill>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4DCC3D1E-D9EB-3E05-D8B3-66BE1690456C}"/>
              </a:ext>
            </a:extLst>
          </p:cNvPr>
          <p:cNvSpPr>
            <a:spLocks noGrp="1"/>
          </p:cNvSpPr>
          <p:nvPr>
            <p:ph idx="1"/>
          </p:nvPr>
        </p:nvSpPr>
        <p:spPr>
          <a:xfrm>
            <a:off x="981632" y="2417298"/>
            <a:ext cx="10515600" cy="3284257"/>
          </a:xfrm>
        </p:spPr>
        <p:txBody>
          <a:bodyPr>
            <a:normAutofit/>
          </a:bodyPr>
          <a:lstStyle/>
          <a:p>
            <a:pPr marL="0" indent="0">
              <a:buNone/>
            </a:pPr>
            <a:r>
              <a:rPr lang="en-US" dirty="0">
                <a:solidFill>
                  <a:srgbClr val="FFFFFF"/>
                </a:solidFill>
              </a:rPr>
              <a:t>	John Steinbeck was inspired by the events of the Great Depression and the poem “To a Mouse” by Robert Burns. John Steinbeck himself came from humble beginnings, working as a migrant laborer. Raising awareness for the disastrous working conditions of economic depressions was the objective of most of the works Steinbeck wrote such as “The Pearl”, </a:t>
            </a:r>
            <a:r>
              <a:rPr lang="en-US" i="1" dirty="0">
                <a:solidFill>
                  <a:srgbClr val="FFFFFF"/>
                </a:solidFill>
              </a:rPr>
              <a:t>Of Mice and Men</a:t>
            </a:r>
            <a:r>
              <a:rPr lang="en-US" dirty="0">
                <a:solidFill>
                  <a:srgbClr val="FFFFFF"/>
                </a:solidFill>
              </a:rPr>
              <a:t>, and </a:t>
            </a:r>
            <a:r>
              <a:rPr lang="en-US" i="1" dirty="0">
                <a:solidFill>
                  <a:srgbClr val="FFFFFF"/>
                </a:solidFill>
              </a:rPr>
              <a:t>Grapes of Wrath</a:t>
            </a:r>
            <a:r>
              <a:rPr lang="en-US" dirty="0">
                <a:solidFill>
                  <a:srgbClr val="FFFFFF"/>
                </a:solidFill>
              </a:rPr>
              <a:t>. The characters in the novel were inspired Steinbeck met working. </a:t>
            </a:r>
            <a:endParaRPr lang="en-US" i="1" dirty="0">
              <a:solidFill>
                <a:srgbClr val="FFFFFF"/>
              </a:solidFill>
            </a:endParaRPr>
          </a:p>
        </p:txBody>
      </p:sp>
    </p:spTree>
    <p:extLst>
      <p:ext uri="{BB962C8B-B14F-4D97-AF65-F5344CB8AC3E}">
        <p14:creationId xmlns:p14="http://schemas.microsoft.com/office/powerpoint/2010/main" val="325711481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8" name="Rectangle 2057">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7" name="Rectangle 2056">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2050" name="Picture 2" descr="1930 – 1940 | John Steinbeck's Historical Context">
            <a:extLst>
              <a:ext uri="{FF2B5EF4-FFF2-40B4-BE49-F238E27FC236}">
                <a16:creationId xmlns:a16="http://schemas.microsoft.com/office/drawing/2014/main" id="{1188B3B5-0F70-BFF6-E3E8-54DD68E2EB51}"/>
              </a:ext>
            </a:extLst>
          </p:cNvPr>
          <p:cNvPicPr>
            <a:picLocks noChangeAspect="1" noChangeArrowheads="1"/>
          </p:cNvPicPr>
          <p:nvPr/>
        </p:nvPicPr>
        <p:blipFill>
          <a:blip r:embed="rId2">
            <a:alphaModFix amt="60000"/>
            <a:extLst>
              <a:ext uri="{28A0092B-C50C-407E-A947-70E740481C1C}">
                <a14:useLocalDpi xmlns:a14="http://schemas.microsoft.com/office/drawing/2010/main" val="0"/>
              </a:ext>
            </a:extLst>
          </a:blip>
          <a:srcRect t="16974"/>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9" name="Title 1">
            <a:extLst>
              <a:ext uri="{FF2B5EF4-FFF2-40B4-BE49-F238E27FC236}">
                <a16:creationId xmlns:a16="http://schemas.microsoft.com/office/drawing/2014/main" id="{63CA50A2-F5A0-3617-1005-478409A348E3}"/>
              </a:ext>
            </a:extLst>
          </p:cNvPr>
          <p:cNvSpPr>
            <a:spLocks noGrp="1"/>
          </p:cNvSpPr>
          <p:nvPr>
            <p:ph type="title"/>
          </p:nvPr>
        </p:nvSpPr>
        <p:spPr>
          <a:xfrm>
            <a:off x="1198181" y="728907"/>
            <a:ext cx="9792471" cy="1499848"/>
          </a:xfrm>
        </p:spPr>
        <p:txBody>
          <a:bodyPr>
            <a:normAutofit/>
          </a:bodyPr>
          <a:lstStyle/>
          <a:p>
            <a:pPr algn="ctr"/>
            <a:r>
              <a:rPr lang="en-US" dirty="0">
                <a:solidFill>
                  <a:srgbClr val="FFFFFF"/>
                </a:solidFill>
                <a:latin typeface="Times New Roman" panose="02020603050405020304" pitchFamily="18" charset="0"/>
                <a:cs typeface="Times New Roman" panose="02020603050405020304" pitchFamily="18" charset="0"/>
              </a:rPr>
              <a:t>Salinas Valley: Migrant Worker Haven</a:t>
            </a:r>
          </a:p>
        </p:txBody>
      </p:sp>
      <p:sp>
        <p:nvSpPr>
          <p:cNvPr id="2060" name="Content Placeholder 2">
            <a:extLst>
              <a:ext uri="{FF2B5EF4-FFF2-40B4-BE49-F238E27FC236}">
                <a16:creationId xmlns:a16="http://schemas.microsoft.com/office/drawing/2014/main" id="{35F3F673-DC66-F82D-8DCC-52A281368284}"/>
              </a:ext>
            </a:extLst>
          </p:cNvPr>
          <p:cNvSpPr>
            <a:spLocks noGrp="1"/>
          </p:cNvSpPr>
          <p:nvPr>
            <p:ph idx="1"/>
          </p:nvPr>
        </p:nvSpPr>
        <p:spPr>
          <a:xfrm>
            <a:off x="1198181" y="2228755"/>
            <a:ext cx="9792471" cy="4087906"/>
          </a:xfrm>
        </p:spPr>
        <p:txBody>
          <a:bodyPr>
            <a:normAutofit/>
          </a:bodyPr>
          <a:lstStyle/>
          <a:p>
            <a:pPr marL="0" indent="0">
              <a:buNone/>
            </a:pPr>
            <a:r>
              <a:rPr lang="en-US" sz="2000" dirty="0">
                <a:solidFill>
                  <a:srgbClr val="FFFFFF"/>
                </a:solidFill>
                <a:latin typeface="Times New Roman" panose="02020603050405020304" pitchFamily="18" charset="0"/>
                <a:cs typeface="Times New Roman" panose="02020603050405020304" pitchFamily="18" charset="0"/>
              </a:rPr>
              <a:t>	</a:t>
            </a:r>
            <a:r>
              <a:rPr lang="en-US" dirty="0">
                <a:solidFill>
                  <a:srgbClr val="FFFFFF"/>
                </a:solidFill>
                <a:latin typeface="Times New Roman" panose="02020603050405020304" pitchFamily="18" charset="0"/>
                <a:cs typeface="Times New Roman" panose="02020603050405020304" pitchFamily="18" charset="0"/>
              </a:rPr>
              <a:t>Salinas Valley, California was a prime hub for immigrant work and the setting for Steinbeck's </a:t>
            </a:r>
            <a:r>
              <a:rPr lang="en-US" i="1" dirty="0">
                <a:solidFill>
                  <a:srgbClr val="FFFFFF"/>
                </a:solidFill>
                <a:latin typeface="Times New Roman" panose="02020603050405020304" pitchFamily="18" charset="0"/>
                <a:cs typeface="Times New Roman" panose="02020603050405020304" pitchFamily="18" charset="0"/>
              </a:rPr>
              <a:t>Of Mice and Men. </a:t>
            </a:r>
            <a:r>
              <a:rPr lang="en-US" dirty="0">
                <a:solidFill>
                  <a:srgbClr val="FFFFFF"/>
                </a:solidFill>
                <a:latin typeface="Times New Roman" panose="02020603050405020304" pitchFamily="18" charset="0"/>
                <a:cs typeface="Times New Roman" panose="02020603050405020304" pitchFamily="18" charset="0"/>
              </a:rPr>
              <a:t>It became such an agricultural hub that by 1930, the population grew to more than 10,000 residents living there. It became a spot of protest.</a:t>
            </a:r>
          </a:p>
          <a:p>
            <a:pPr marL="0" indent="0">
              <a:buNone/>
            </a:pPr>
            <a:r>
              <a:rPr lang="en-US" dirty="0">
                <a:solidFill>
                  <a:srgbClr val="FFFFFF"/>
                </a:solidFill>
                <a:latin typeface="Times New Roman" panose="02020603050405020304" pitchFamily="18" charset="0"/>
                <a:cs typeface="Times New Roman" panose="02020603050405020304" pitchFamily="18" charset="0"/>
              </a:rPr>
              <a:t>	The landscape consisted of fertile land and agricultural growth. It was flat and bare with nutrient-filled soil. </a:t>
            </a:r>
          </a:p>
          <a:p>
            <a:pPr marL="0" indent="0">
              <a:buNone/>
            </a:pPr>
            <a:r>
              <a:rPr lang="en-US" dirty="0">
                <a:solidFill>
                  <a:srgbClr val="FFFFFF"/>
                </a:solidFill>
                <a:latin typeface="Times New Roman" panose="02020603050405020304" pitchFamily="18" charset="0"/>
                <a:cs typeface="Times New Roman" panose="02020603050405020304" pitchFamily="18" charset="0"/>
              </a:rPr>
              <a:t>	The dominant crops were almonds, fruits, and wheat. Orchards, flowering trees, and crops lined the ground and were a sign of  agricultural growth and prosperity. </a:t>
            </a:r>
          </a:p>
        </p:txBody>
      </p:sp>
    </p:spTree>
    <p:extLst>
      <p:ext uri="{BB962C8B-B14F-4D97-AF65-F5344CB8AC3E}">
        <p14:creationId xmlns:p14="http://schemas.microsoft.com/office/powerpoint/2010/main" val="400622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0,700+ Black And White Flag Stock Photos, Pictures &amp; Royalty-Free Images -  iStock | American flag, Racing flag, Race track">
            <a:extLst>
              <a:ext uri="{FF2B5EF4-FFF2-40B4-BE49-F238E27FC236}">
                <a16:creationId xmlns:a16="http://schemas.microsoft.com/office/drawing/2014/main" id="{CE3D8E8B-9B06-B5BA-29BC-544AB22CD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15" y="15239"/>
            <a:ext cx="12219215" cy="68427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4C3E0F-91AB-D4B5-A73F-EDD0D774692B}"/>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What is the “American Dream”?</a:t>
            </a:r>
          </a:p>
        </p:txBody>
      </p:sp>
      <p:sp>
        <p:nvSpPr>
          <p:cNvPr id="3" name="Content Placeholder 2">
            <a:extLst>
              <a:ext uri="{FF2B5EF4-FFF2-40B4-BE49-F238E27FC236}">
                <a16:creationId xmlns:a16="http://schemas.microsoft.com/office/drawing/2014/main" id="{0D54E591-3581-107D-176A-F6E1EB6446F0}"/>
              </a:ext>
            </a:extLst>
          </p:cNvPr>
          <p:cNvSpPr>
            <a:spLocks noGrp="1"/>
          </p:cNvSpPr>
          <p:nvPr>
            <p:ph idx="1"/>
          </p:nvPr>
        </p:nvSpPr>
        <p:spPr>
          <a:xfrm>
            <a:off x="838200" y="1789767"/>
            <a:ext cx="10515600" cy="4703108"/>
          </a:xfrm>
        </p:spPr>
        <p:txBody>
          <a:bodyPr/>
          <a:lstStyle/>
          <a:p>
            <a:pPr marL="0" indent="0">
              <a:buNone/>
            </a:pPr>
            <a:r>
              <a:rPr lang="en-US" dirty="0"/>
              <a:t>	</a:t>
            </a:r>
            <a:r>
              <a:rPr lang="en-US" dirty="0">
                <a:solidFill>
                  <a:schemeClr val="bg1"/>
                </a:solidFill>
                <a:latin typeface="Times New Roman" panose="02020603050405020304" pitchFamily="18" charset="0"/>
                <a:cs typeface="Times New Roman" panose="02020603050405020304" pitchFamily="18" charset="0"/>
              </a:rPr>
              <a:t>The “American Dream” is having the freedom and liberty to live leisurely and support a family. The Great Depression tested this freedom and introduced the Economic Bill of Rights which highlighted certain aspects such as the right to a job, food and a home. </a:t>
            </a:r>
          </a:p>
          <a:p>
            <a:pPr marL="0" indent="0">
              <a:buNone/>
            </a:pPr>
            <a:r>
              <a:rPr lang="en-US" dirty="0">
                <a:solidFill>
                  <a:schemeClr val="bg1"/>
                </a:solidFill>
                <a:latin typeface="Times New Roman" panose="02020603050405020304" pitchFamily="18" charset="0"/>
                <a:cs typeface="Times New Roman" panose="02020603050405020304" pitchFamily="18" charset="0"/>
              </a:rPr>
              <a:t>	The “American Dream” changed with the Great Depression as unemployment rates increased and food became sparce. The “American Dream” would have more similar to the Economic Bill of Rights. The workers would want the right to have a stable job, home, and the ability to provide for their family. The people in the 1930’s wanted to live under a stable income and higher wages. </a:t>
            </a:r>
            <a:endParaRPr lang="en-US" dirty="0"/>
          </a:p>
        </p:txBody>
      </p:sp>
    </p:spTree>
    <p:extLst>
      <p:ext uri="{BB962C8B-B14F-4D97-AF65-F5344CB8AC3E}">
        <p14:creationId xmlns:p14="http://schemas.microsoft.com/office/powerpoint/2010/main" val="712653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2D7C4-A44D-139F-85E8-54073BCA6C64}"/>
            </a:ext>
          </a:extLst>
        </p:cNvPr>
        <p:cNvGrpSpPr/>
        <p:nvPr/>
      </p:nvGrpSpPr>
      <p:grpSpPr>
        <a:xfrm>
          <a:off x="0" y="0"/>
          <a:ext cx="0" cy="0"/>
          <a:chOff x="0" y="0"/>
          <a:chExt cx="0" cy="0"/>
        </a:xfrm>
      </p:grpSpPr>
      <p:pic>
        <p:nvPicPr>
          <p:cNvPr id="3074" name="Picture 2" descr="20,700+ Black And White Flag Stock Photos, Pictures &amp; Royalty-Free Images -  iStock | American flag, Racing flag, Race track">
            <a:extLst>
              <a:ext uri="{FF2B5EF4-FFF2-40B4-BE49-F238E27FC236}">
                <a16:creationId xmlns:a16="http://schemas.microsoft.com/office/drawing/2014/main" id="{7E80666D-2A32-F4C0-D95C-9F35B1F7B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15" y="15239"/>
            <a:ext cx="12219215" cy="68427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2D7EC21-4BC3-7D3B-C813-C163113F1D44}"/>
              </a:ext>
            </a:extLst>
          </p:cNvPr>
          <p:cNvSpPr>
            <a:spLocks noGrp="1"/>
          </p:cNvSpPr>
          <p:nvPr>
            <p:ph type="title"/>
          </p:nvPr>
        </p:nvSpPr>
        <p:spPr/>
        <p:txBody>
          <a:bodyPr/>
          <a:lstStyle/>
          <a:p>
            <a:pPr algn="ctr"/>
            <a:r>
              <a:rPr lang="en-US" dirty="0">
                <a:solidFill>
                  <a:schemeClr val="bg1"/>
                </a:solidFill>
                <a:latin typeface="Times New Roman" panose="02020603050405020304" pitchFamily="18" charset="0"/>
                <a:cs typeface="Times New Roman" panose="02020603050405020304" pitchFamily="18" charset="0"/>
              </a:rPr>
              <a:t>“American Drean” in </a:t>
            </a:r>
            <a:r>
              <a:rPr lang="en-US" i="1" dirty="0">
                <a:solidFill>
                  <a:schemeClr val="bg1"/>
                </a:solidFill>
                <a:latin typeface="Times New Roman" panose="02020603050405020304" pitchFamily="18" charset="0"/>
                <a:cs typeface="Times New Roman" panose="02020603050405020304" pitchFamily="18" charset="0"/>
              </a:rPr>
              <a:t>Of Mice and Men</a:t>
            </a:r>
          </a:p>
        </p:txBody>
      </p:sp>
      <p:sp>
        <p:nvSpPr>
          <p:cNvPr id="3" name="Content Placeholder 2">
            <a:extLst>
              <a:ext uri="{FF2B5EF4-FFF2-40B4-BE49-F238E27FC236}">
                <a16:creationId xmlns:a16="http://schemas.microsoft.com/office/drawing/2014/main" id="{9503D308-0471-9B79-E212-71F36207AD6B}"/>
              </a:ext>
            </a:extLst>
          </p:cNvPr>
          <p:cNvSpPr>
            <a:spLocks noGrp="1"/>
          </p:cNvSpPr>
          <p:nvPr>
            <p:ph idx="1"/>
          </p:nvPr>
        </p:nvSpPr>
        <p:spPr>
          <a:xfrm>
            <a:off x="838200" y="2040574"/>
            <a:ext cx="10515600" cy="4073151"/>
          </a:xfrm>
        </p:spPr>
        <p:txBody>
          <a:bodyPr/>
          <a:lstStyle/>
          <a:p>
            <a:pPr marL="0" indent="0">
              <a:buNone/>
            </a:pPr>
            <a:r>
              <a:rPr lang="en-US" dirty="0"/>
              <a:t>	</a:t>
            </a:r>
            <a:r>
              <a:rPr lang="en-US" i="1" dirty="0">
                <a:solidFill>
                  <a:schemeClr val="bg1"/>
                </a:solidFill>
                <a:latin typeface="Times New Roman" panose="02020603050405020304" pitchFamily="18" charset="0"/>
                <a:cs typeface="Times New Roman" panose="02020603050405020304" pitchFamily="18" charset="0"/>
              </a:rPr>
              <a:t>Of Mice and Men </a:t>
            </a:r>
            <a:r>
              <a:rPr lang="en-US" dirty="0">
                <a:solidFill>
                  <a:schemeClr val="bg1"/>
                </a:solidFill>
                <a:latin typeface="Times New Roman" panose="02020603050405020304" pitchFamily="18" charset="0"/>
                <a:cs typeface="Times New Roman" panose="02020603050405020304" pitchFamily="18" charset="0"/>
              </a:rPr>
              <a:t>exposes us to unimaginable topics such as the harsh conditions of the Great Depression. This short novel encapsulates the ideals of the terrible economic conditions in 1930’s. Of Mice and Men shows the ordeal, strife, and emotional turmoil of the Decade. The characters will have different perspectives on the “American Dream” and their current situation. The people in </a:t>
            </a:r>
            <a:r>
              <a:rPr lang="en-US" i="1" dirty="0">
                <a:solidFill>
                  <a:schemeClr val="bg1"/>
                </a:solidFill>
                <a:latin typeface="Times New Roman" panose="02020603050405020304" pitchFamily="18" charset="0"/>
                <a:cs typeface="Times New Roman" panose="02020603050405020304" pitchFamily="18" charset="0"/>
              </a:rPr>
              <a:t>Of Mice and Men</a:t>
            </a:r>
            <a:r>
              <a:rPr lang="en-US" dirty="0">
                <a:solidFill>
                  <a:schemeClr val="bg1"/>
                </a:solidFill>
                <a:latin typeface="Times New Roman" panose="02020603050405020304" pitchFamily="18" charset="0"/>
                <a:cs typeface="Times New Roman" panose="02020603050405020304" pitchFamily="18" charset="0"/>
              </a:rPr>
              <a:t> are struggling with economic troubles, as well as their perception of what is happening. They may say they are entitled to a job and produce hate towards the government for the terrible economic conditions. </a:t>
            </a:r>
          </a:p>
        </p:txBody>
      </p:sp>
    </p:spTree>
    <p:extLst>
      <p:ext uri="{BB962C8B-B14F-4D97-AF65-F5344CB8AC3E}">
        <p14:creationId xmlns:p14="http://schemas.microsoft.com/office/powerpoint/2010/main" val="3532436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7AA85E7942F249A78E7378F848E913" ma:contentTypeVersion="4" ma:contentTypeDescription="Create a new document." ma:contentTypeScope="" ma:versionID="cc084131eb067a8f48a832ccf8b58160">
  <xsd:schema xmlns:xsd="http://www.w3.org/2001/XMLSchema" xmlns:xs="http://www.w3.org/2001/XMLSchema" xmlns:p="http://schemas.microsoft.com/office/2006/metadata/properties" xmlns:ns3="4d6f6fa5-3307-4669-b3e5-2de417ebd81b" targetNamespace="http://schemas.microsoft.com/office/2006/metadata/properties" ma:root="true" ma:fieldsID="360b31dba4be955a27f38e82a9e7e26c" ns3:_="">
    <xsd:import namespace="4d6f6fa5-3307-4669-b3e5-2de417ebd81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6f6fa5-3307-4669-b3e5-2de417ebd8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2CD102-FCD9-4821-B3F3-75B29A0D7C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6f6fa5-3307-4669-b3e5-2de417ebd8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B60876-7F53-4929-995E-89D958EDEA5D}">
  <ds:schemaRefs>
    <ds:schemaRef ds:uri="http://schemas.microsoft.com/sharepoint/v3/contenttype/forms"/>
  </ds:schemaRefs>
</ds:datastoreItem>
</file>

<file path=customXml/itemProps3.xml><?xml version="1.0" encoding="utf-8"?>
<ds:datastoreItem xmlns:ds="http://schemas.openxmlformats.org/officeDocument/2006/customXml" ds:itemID="{762FA1FF-6EA3-480B-9DFE-889A9E8AA593}">
  <ds:schemaRefs>
    <ds:schemaRef ds:uri="http://schemas.microsoft.com/office/2006/documentManagement/types"/>
    <ds:schemaRef ds:uri="http://schemas.microsoft.com/office/infopath/2007/PartnerControls"/>
    <ds:schemaRef ds:uri="http://purl.org/dc/dcmitype/"/>
    <ds:schemaRef ds:uri="http://www.w3.org/XML/1998/namespace"/>
    <ds:schemaRef ds:uri="http://purl.org/dc/elements/1.1/"/>
    <ds:schemaRef ds:uri="http://schemas.openxmlformats.org/package/2006/metadata/core-properties"/>
    <ds:schemaRef ds:uri="4d6f6fa5-3307-4669-b3e5-2de417ebd81b"/>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168</TotalTime>
  <Words>1003</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Calibri</vt:lpstr>
      <vt:lpstr>Times New Roman</vt:lpstr>
      <vt:lpstr>Wingdings</vt:lpstr>
      <vt:lpstr>Office Theme</vt:lpstr>
      <vt:lpstr>The Great Depression</vt:lpstr>
      <vt:lpstr>What was the Great Depression?</vt:lpstr>
      <vt:lpstr>How did the Great Depression affect life?</vt:lpstr>
      <vt:lpstr>Migrant Workers in 1930’s</vt:lpstr>
      <vt:lpstr>Who was John Steinbeck? </vt:lpstr>
      <vt:lpstr>What was the inspiration for Of Mice and Men? </vt:lpstr>
      <vt:lpstr>Salinas Valley: Migrant Worker Haven</vt:lpstr>
      <vt:lpstr>What is the “American Dream”?</vt:lpstr>
      <vt:lpstr>“American Drean” in Of Mice and 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Syona Negi (Student)</dc:creator>
  <cp:lastModifiedBy>Syona Negi (Student)</cp:lastModifiedBy>
  <cp:revision>2</cp:revision>
  <dcterms:created xsi:type="dcterms:W3CDTF">2025-09-05T15:03:54Z</dcterms:created>
  <dcterms:modified xsi:type="dcterms:W3CDTF">2025-09-09T14:51:52Z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0x010100EA7AA85E7942F249A78E7378F848E913</vt:lpwstr>
  </property>
</Properties>
</file>