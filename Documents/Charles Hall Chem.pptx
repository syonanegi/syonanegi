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6A74"/>
    <a:srgbClr val="765D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55" autoAdjust="0"/>
    <p:restoredTop sz="94660"/>
  </p:normalViewPr>
  <p:slideViewPr>
    <p:cSldViewPr snapToGrid="0">
      <p:cViewPr>
        <p:scale>
          <a:sx n="50" d="100"/>
          <a:sy n="50" d="100"/>
        </p:scale>
        <p:origin x="588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0A01C-52DE-6E7A-D038-5912C0E60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BED08D-B37F-BC68-2D58-3E1169E06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8E101-843F-276E-7E9C-7A6D1098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4EFF9-CF3C-493A-BADC-C4DAB44F0AB6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02EB8-C286-AC10-B3F9-FBB28EBC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8FFCD-16EE-9CB0-06A8-A74F8DAD0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53F9-7C86-4399-8F5A-A429F76CA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632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BC429-811C-0EDD-CCE9-347CDFCF1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463CE-9215-F604-9ECC-E4AE884DA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1B355-5001-2B6C-4B21-5C25DD70A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4EFF9-CF3C-493A-BADC-C4DAB44F0AB6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FEC6B-0711-A245-E5EC-20C7006B2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443D4-E844-1550-5ABC-35EE8A502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53F9-7C86-4399-8F5A-A429F76CA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64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EE1B4-06AE-35DB-4FBA-1B09C0B3B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EEBF6-887A-514D-E80C-DDEFDF8DD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97916-E146-4843-09D1-3DBBF131D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4EFF9-CF3C-493A-BADC-C4DAB44F0AB6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9C83B-9E46-F0F2-66F1-8FC7C83E8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794F2-6BE1-7C40-3BB7-2E6EA0A0B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53F9-7C86-4399-8F5A-A429F76CA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580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1471D-EE40-DC5D-1CF5-6C980F622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60C5D-CFB6-9897-189E-A214219453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81D641-9A0A-AAB9-5437-508CB49AD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3558E-912C-19E0-214E-2F2FAE801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4EFF9-CF3C-493A-BADC-C4DAB44F0AB6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49407-5DAE-76BA-4923-8A66573A1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889D8-33CD-62C0-29BF-520A63A4B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53F9-7C86-4399-8F5A-A429F76CA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253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210BD-5779-0B5B-763E-E05BB295A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9F9B9-9184-A636-B72F-A14BC9377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D3956D-042B-EE5B-FCC7-7335F6AF4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F10AA6-BFAB-BCF5-3C8D-6A324C1D1F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6FD10F-4694-5E79-37F2-CD106C46E4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D39B82-04D8-2F7D-D853-6E7980063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4EFF9-CF3C-493A-BADC-C4DAB44F0AB6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563A71-5779-7174-F4AF-EF6A9155F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8AE0D0-30A6-7194-62C4-AD081F3D5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53F9-7C86-4399-8F5A-A429F76CA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217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D4A8-4984-5DBF-9846-F843BF6BF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7D5F28-4DAD-6DFD-699D-AA7ED5291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4EFF9-CF3C-493A-BADC-C4DAB44F0AB6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96D991-84D2-E136-20FD-C6EAD9F65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08016-8775-7300-9EC9-8951C32D3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53F9-7C86-4399-8F5A-A429F76CA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84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EFE0C3-6B00-EEB6-A14E-B4488F5AC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4EFF9-CF3C-493A-BADC-C4DAB44F0AB6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923C66-CE42-80FF-3DE7-2A71EE7B0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5494D-92E9-F073-6D0B-4D30D45E6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53F9-7C86-4399-8F5A-A429F76CA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029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3C069-463C-F89D-0BB3-48517A5F3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72AA5-5476-0341-43AD-1CBC6DB0F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E6F9C-CCBB-3717-AA02-8A38DA4ACA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67718-3F7C-B27B-2D3F-2757A9E4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4EFF9-CF3C-493A-BADC-C4DAB44F0AB6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6CCB5-BFD4-B0C2-D21E-E4631D59A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83DC4-CA37-67ED-BBDA-BAE29579C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53F9-7C86-4399-8F5A-A429F76CA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373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1E3AA-C4E9-9015-9CCB-F4A100E21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4231BD-802E-4DF3-0192-B6F2D480F6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2428D-22A0-A5C8-351B-231928C78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95ACC-196F-5A0A-D1A7-FC181A13B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4EFF9-CF3C-493A-BADC-C4DAB44F0AB6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D2D87-D866-E518-8867-BA7D8DD75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79D24-150F-2CB4-D207-0C14CA137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53F9-7C86-4399-8F5A-A429F76CA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626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50188-5B93-F66C-A7FC-1796B91E2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F6D13A-59E8-348C-062F-634CF7D7F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88EE4-3847-196F-4B0A-B87C7749F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4EFF9-CF3C-493A-BADC-C4DAB44F0AB6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F5269-EC0F-9BD7-A85D-E284881D4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6DB42-7FE2-BE24-611E-C19F2AA00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53F9-7C86-4399-8F5A-A429F76CA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935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94B99B-EB8D-6DD8-0DDA-D512B915BB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537705-3B64-FCE5-431C-A5002FC79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E74A3-F655-6FB7-BAE5-9721BABF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4EFF9-CF3C-493A-BADC-C4DAB44F0AB6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0A563-C2AF-8BB4-67B2-E0CEA4269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A15E7-57DE-F408-F235-FF64B344D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53F9-7C86-4399-8F5A-A429F76CA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3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290454-6844-CE3B-047D-85CD429F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E3359-990B-721E-4AE5-3F86215E0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12138-2FAC-0529-47EB-67DDC322D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04EFF9-CF3C-493A-BADC-C4DAB44F0AB6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C9B4C-D40F-E38C-93DF-0512809FC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83493-54D9-FBF6-AD94-1A654D85A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BB53F9-7C86-4399-8F5A-A429F76CA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319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88747D69-48CE-5ED2-4656-42D56B19F0DC}"/>
              </a:ext>
            </a:extLst>
          </p:cNvPr>
          <p:cNvGrpSpPr/>
          <p:nvPr/>
        </p:nvGrpSpPr>
        <p:grpSpPr>
          <a:xfrm>
            <a:off x="52608" y="3429000"/>
            <a:ext cx="8492876" cy="3429000"/>
            <a:chOff x="2106386" y="2008414"/>
            <a:chExt cx="6662057" cy="3575957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83042C3-E02D-337E-A18B-D7AF6E4AE3A9}"/>
                </a:ext>
              </a:extLst>
            </p:cNvPr>
            <p:cNvSpPr/>
            <p:nvPr/>
          </p:nvSpPr>
          <p:spPr>
            <a:xfrm>
              <a:off x="2106386" y="2008414"/>
              <a:ext cx="6662057" cy="357595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383BFDA-2DD6-9DF1-45F0-DA1D0A4B7B83}"/>
                </a:ext>
              </a:extLst>
            </p:cNvPr>
            <p:cNvSpPr/>
            <p:nvPr/>
          </p:nvSpPr>
          <p:spPr>
            <a:xfrm>
              <a:off x="2343149" y="2188029"/>
              <a:ext cx="6188529" cy="32657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8" name="Group 1057">
            <a:extLst>
              <a:ext uri="{FF2B5EF4-FFF2-40B4-BE49-F238E27FC236}">
                <a16:creationId xmlns:a16="http://schemas.microsoft.com/office/drawing/2014/main" id="{3C1CF910-23EE-F334-FC45-DC73A4232954}"/>
              </a:ext>
            </a:extLst>
          </p:cNvPr>
          <p:cNvGrpSpPr/>
          <p:nvPr/>
        </p:nvGrpSpPr>
        <p:grpSpPr>
          <a:xfrm>
            <a:off x="2390721" y="3678853"/>
            <a:ext cx="3494176" cy="1520406"/>
            <a:chOff x="4495926" y="2785877"/>
            <a:chExt cx="3494176" cy="1520406"/>
          </a:xfrm>
        </p:grpSpPr>
        <p:grpSp>
          <p:nvGrpSpPr>
            <p:cNvPr id="1059" name="Group 1058">
              <a:extLst>
                <a:ext uri="{FF2B5EF4-FFF2-40B4-BE49-F238E27FC236}">
                  <a16:creationId xmlns:a16="http://schemas.microsoft.com/office/drawing/2014/main" id="{643D972B-C065-CBCF-B9CA-2FD808028605}"/>
                </a:ext>
              </a:extLst>
            </p:cNvPr>
            <p:cNvGrpSpPr/>
            <p:nvPr/>
          </p:nvGrpSpPr>
          <p:grpSpPr>
            <a:xfrm>
              <a:off x="4495926" y="3229228"/>
              <a:ext cx="542605" cy="436644"/>
              <a:chOff x="2743200" y="1773936"/>
              <a:chExt cx="4297680" cy="4425696"/>
            </a:xfrm>
          </p:grpSpPr>
          <p:sp>
            <p:nvSpPr>
              <p:cNvPr id="1072" name="Oval 1071">
                <a:extLst>
                  <a:ext uri="{FF2B5EF4-FFF2-40B4-BE49-F238E27FC236}">
                    <a16:creationId xmlns:a16="http://schemas.microsoft.com/office/drawing/2014/main" id="{8C2B8A57-EB97-28E4-B94D-8E55795541E8}"/>
                  </a:ext>
                </a:extLst>
              </p:cNvPr>
              <p:cNvSpPr/>
              <p:nvPr/>
            </p:nvSpPr>
            <p:spPr>
              <a:xfrm>
                <a:off x="2743200" y="1773936"/>
                <a:ext cx="4297680" cy="442569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3" name="Plus Sign 1072">
                <a:extLst>
                  <a:ext uri="{FF2B5EF4-FFF2-40B4-BE49-F238E27FC236}">
                    <a16:creationId xmlns:a16="http://schemas.microsoft.com/office/drawing/2014/main" id="{12478549-2686-46A0-751D-76175CB44EC6}"/>
                  </a:ext>
                </a:extLst>
              </p:cNvPr>
              <p:cNvSpPr/>
              <p:nvPr/>
            </p:nvSpPr>
            <p:spPr>
              <a:xfrm>
                <a:off x="3581400" y="2578608"/>
                <a:ext cx="2621280" cy="2816352"/>
              </a:xfrm>
              <a:prstGeom prst="mathPlu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60" name="Group 1059">
              <a:extLst>
                <a:ext uri="{FF2B5EF4-FFF2-40B4-BE49-F238E27FC236}">
                  <a16:creationId xmlns:a16="http://schemas.microsoft.com/office/drawing/2014/main" id="{75680914-F7CE-EF23-1F3C-F554DFDE0180}"/>
                </a:ext>
              </a:extLst>
            </p:cNvPr>
            <p:cNvGrpSpPr/>
            <p:nvPr/>
          </p:nvGrpSpPr>
          <p:grpSpPr>
            <a:xfrm>
              <a:off x="5038531" y="3586482"/>
              <a:ext cx="742995" cy="640412"/>
              <a:chOff x="2743200" y="1773936"/>
              <a:chExt cx="4297680" cy="4425696"/>
            </a:xfrm>
          </p:grpSpPr>
          <p:sp>
            <p:nvSpPr>
              <p:cNvPr id="1070" name="Oval 1069">
                <a:extLst>
                  <a:ext uri="{FF2B5EF4-FFF2-40B4-BE49-F238E27FC236}">
                    <a16:creationId xmlns:a16="http://schemas.microsoft.com/office/drawing/2014/main" id="{653AC1DA-BD68-BDA5-8317-2A0FD0EC0950}"/>
                  </a:ext>
                </a:extLst>
              </p:cNvPr>
              <p:cNvSpPr/>
              <p:nvPr/>
            </p:nvSpPr>
            <p:spPr>
              <a:xfrm>
                <a:off x="2743200" y="1773936"/>
                <a:ext cx="4297680" cy="442569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1" name="Plus Sign 1070">
                <a:extLst>
                  <a:ext uri="{FF2B5EF4-FFF2-40B4-BE49-F238E27FC236}">
                    <a16:creationId xmlns:a16="http://schemas.microsoft.com/office/drawing/2014/main" id="{E86854BB-ECFE-D877-1B21-B5AC71E75325}"/>
                  </a:ext>
                </a:extLst>
              </p:cNvPr>
              <p:cNvSpPr/>
              <p:nvPr/>
            </p:nvSpPr>
            <p:spPr>
              <a:xfrm>
                <a:off x="3581400" y="2578608"/>
                <a:ext cx="2621280" cy="2816352"/>
              </a:xfrm>
              <a:prstGeom prst="mathPlu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61" name="Group 1060">
              <a:extLst>
                <a:ext uri="{FF2B5EF4-FFF2-40B4-BE49-F238E27FC236}">
                  <a16:creationId xmlns:a16="http://schemas.microsoft.com/office/drawing/2014/main" id="{B360E80A-CD86-6117-95FD-A5B681DAEE38}"/>
                </a:ext>
              </a:extLst>
            </p:cNvPr>
            <p:cNvGrpSpPr/>
            <p:nvPr/>
          </p:nvGrpSpPr>
          <p:grpSpPr>
            <a:xfrm>
              <a:off x="6096000" y="3192128"/>
              <a:ext cx="742995" cy="590181"/>
              <a:chOff x="2743200" y="1773936"/>
              <a:chExt cx="4297680" cy="4425696"/>
            </a:xfrm>
          </p:grpSpPr>
          <p:sp>
            <p:nvSpPr>
              <p:cNvPr id="1068" name="Oval 1067">
                <a:extLst>
                  <a:ext uri="{FF2B5EF4-FFF2-40B4-BE49-F238E27FC236}">
                    <a16:creationId xmlns:a16="http://schemas.microsoft.com/office/drawing/2014/main" id="{DFD622F4-B3D1-02FC-D47E-F2DACACBCD95}"/>
                  </a:ext>
                </a:extLst>
              </p:cNvPr>
              <p:cNvSpPr/>
              <p:nvPr/>
            </p:nvSpPr>
            <p:spPr>
              <a:xfrm>
                <a:off x="2743200" y="1773936"/>
                <a:ext cx="4297680" cy="442569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9" name="Plus Sign 1068">
                <a:extLst>
                  <a:ext uri="{FF2B5EF4-FFF2-40B4-BE49-F238E27FC236}">
                    <a16:creationId xmlns:a16="http://schemas.microsoft.com/office/drawing/2014/main" id="{2EF4885F-5F9B-AFD8-3087-91996E9AE799}"/>
                  </a:ext>
                </a:extLst>
              </p:cNvPr>
              <p:cNvSpPr/>
              <p:nvPr/>
            </p:nvSpPr>
            <p:spPr>
              <a:xfrm>
                <a:off x="3581400" y="2578608"/>
                <a:ext cx="2621280" cy="2816352"/>
              </a:xfrm>
              <a:prstGeom prst="mathPlu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62" name="Group 1061">
              <a:extLst>
                <a:ext uri="{FF2B5EF4-FFF2-40B4-BE49-F238E27FC236}">
                  <a16:creationId xmlns:a16="http://schemas.microsoft.com/office/drawing/2014/main" id="{3BA8053A-9414-9B36-12D0-AAF119DE8F98}"/>
                </a:ext>
              </a:extLst>
            </p:cNvPr>
            <p:cNvGrpSpPr/>
            <p:nvPr/>
          </p:nvGrpSpPr>
          <p:grpSpPr>
            <a:xfrm>
              <a:off x="6634728" y="3665871"/>
              <a:ext cx="742995" cy="640412"/>
              <a:chOff x="2743200" y="1773936"/>
              <a:chExt cx="4297680" cy="4425696"/>
            </a:xfrm>
          </p:grpSpPr>
          <p:sp>
            <p:nvSpPr>
              <p:cNvPr id="1066" name="Oval 1065">
                <a:extLst>
                  <a:ext uri="{FF2B5EF4-FFF2-40B4-BE49-F238E27FC236}">
                    <a16:creationId xmlns:a16="http://schemas.microsoft.com/office/drawing/2014/main" id="{EE3F0786-A804-EAC3-8606-019E07D271A2}"/>
                  </a:ext>
                </a:extLst>
              </p:cNvPr>
              <p:cNvSpPr/>
              <p:nvPr/>
            </p:nvSpPr>
            <p:spPr>
              <a:xfrm>
                <a:off x="2743200" y="1773936"/>
                <a:ext cx="4297680" cy="442569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7" name="Plus Sign 1066">
                <a:extLst>
                  <a:ext uri="{FF2B5EF4-FFF2-40B4-BE49-F238E27FC236}">
                    <a16:creationId xmlns:a16="http://schemas.microsoft.com/office/drawing/2014/main" id="{C5F8582F-B361-160E-B9E4-7020F5F968F8}"/>
                  </a:ext>
                </a:extLst>
              </p:cNvPr>
              <p:cNvSpPr/>
              <p:nvPr/>
            </p:nvSpPr>
            <p:spPr>
              <a:xfrm>
                <a:off x="3581400" y="2578608"/>
                <a:ext cx="2621280" cy="2816352"/>
              </a:xfrm>
              <a:prstGeom prst="mathPlu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63" name="Group 1062">
              <a:extLst>
                <a:ext uri="{FF2B5EF4-FFF2-40B4-BE49-F238E27FC236}">
                  <a16:creationId xmlns:a16="http://schemas.microsoft.com/office/drawing/2014/main" id="{255362C8-9E83-F539-276E-97B3C31FF692}"/>
                </a:ext>
              </a:extLst>
            </p:cNvPr>
            <p:cNvGrpSpPr/>
            <p:nvPr/>
          </p:nvGrpSpPr>
          <p:grpSpPr>
            <a:xfrm>
              <a:off x="7247107" y="2785877"/>
              <a:ext cx="742995" cy="640412"/>
              <a:chOff x="2743200" y="1773936"/>
              <a:chExt cx="4297680" cy="4425696"/>
            </a:xfrm>
          </p:grpSpPr>
          <p:sp>
            <p:nvSpPr>
              <p:cNvPr id="1064" name="Oval 1063">
                <a:extLst>
                  <a:ext uri="{FF2B5EF4-FFF2-40B4-BE49-F238E27FC236}">
                    <a16:creationId xmlns:a16="http://schemas.microsoft.com/office/drawing/2014/main" id="{E5DC4E61-B317-36B9-2FCB-7FC39398DF95}"/>
                  </a:ext>
                </a:extLst>
              </p:cNvPr>
              <p:cNvSpPr/>
              <p:nvPr/>
            </p:nvSpPr>
            <p:spPr>
              <a:xfrm>
                <a:off x="2743200" y="1773936"/>
                <a:ext cx="4297680" cy="442569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5" name="Plus Sign 1064">
                <a:extLst>
                  <a:ext uri="{FF2B5EF4-FFF2-40B4-BE49-F238E27FC236}">
                    <a16:creationId xmlns:a16="http://schemas.microsoft.com/office/drawing/2014/main" id="{F13FF515-3698-BC6F-1D47-765BA0318A30}"/>
                  </a:ext>
                </a:extLst>
              </p:cNvPr>
              <p:cNvSpPr/>
              <p:nvPr/>
            </p:nvSpPr>
            <p:spPr>
              <a:xfrm>
                <a:off x="3581400" y="2578608"/>
                <a:ext cx="2621280" cy="2816352"/>
              </a:xfrm>
              <a:prstGeom prst="mathPlu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5877DABC-9053-D4D9-59CD-DFE0A3CF556B}"/>
              </a:ext>
            </a:extLst>
          </p:cNvPr>
          <p:cNvSpPr/>
          <p:nvPr/>
        </p:nvSpPr>
        <p:spPr>
          <a:xfrm>
            <a:off x="2522030" y="3871030"/>
            <a:ext cx="155643" cy="227228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5A93EA-B7BD-06D4-67F4-641C22E4CDAB}"/>
              </a:ext>
            </a:extLst>
          </p:cNvPr>
          <p:cNvSpPr/>
          <p:nvPr/>
        </p:nvSpPr>
        <p:spPr>
          <a:xfrm>
            <a:off x="5885238" y="3879277"/>
            <a:ext cx="155643" cy="227228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FC848D-6B55-B13E-0651-A2A7C219EEFA}"/>
              </a:ext>
            </a:extLst>
          </p:cNvPr>
          <p:cNvSpPr/>
          <p:nvPr/>
        </p:nvSpPr>
        <p:spPr>
          <a:xfrm>
            <a:off x="1147867" y="6070202"/>
            <a:ext cx="6653719" cy="2258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A48FB6-5018-65BD-86BD-3BDCE4568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9139" y="170234"/>
            <a:ext cx="4059677" cy="646889"/>
          </a:xfrm>
        </p:spPr>
        <p:txBody>
          <a:bodyPr>
            <a:normAutofit/>
          </a:bodyPr>
          <a:lstStyle/>
          <a:p>
            <a:r>
              <a:rPr lang="en-US" sz="3200" dirty="0"/>
              <a:t>Charles</a:t>
            </a:r>
            <a:r>
              <a:rPr lang="en-US" sz="2800" dirty="0"/>
              <a:t> Hall (1863-1914)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C8140D-AEAE-6B23-7BCB-F42DC815B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9140" y="953311"/>
            <a:ext cx="4682248" cy="212062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dirty="0"/>
              <a:t>Education: After doing his undergraduate, Hall set up a lab at home for the purification of aluminum. </a:t>
            </a:r>
          </a:p>
          <a:p>
            <a:pPr algn="l"/>
            <a:r>
              <a:rPr lang="en-US" dirty="0"/>
              <a:t>Location: Having done his undergraduate in Ohio, he arrived in Philadelphia for backers to fund his research.</a:t>
            </a:r>
          </a:p>
        </p:txBody>
      </p:sp>
      <p:pic>
        <p:nvPicPr>
          <p:cNvPr id="1028" name="Picture 4" descr="Charles Martin Hall - Wikipedia">
            <a:extLst>
              <a:ext uri="{FF2B5EF4-FFF2-40B4-BE49-F238E27FC236}">
                <a16:creationId xmlns:a16="http://schemas.microsoft.com/office/drawing/2014/main" id="{C0AA8786-EF99-EFD6-F4B0-4469A5F08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96" y="170234"/>
            <a:ext cx="2364361" cy="3160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F70F2FB-CE12-1BD7-E96B-1A3561E8CCA2}"/>
              </a:ext>
            </a:extLst>
          </p:cNvPr>
          <p:cNvSpPr/>
          <p:nvPr/>
        </p:nvSpPr>
        <p:spPr>
          <a:xfrm>
            <a:off x="661486" y="3611136"/>
            <a:ext cx="7230893" cy="41585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3C72A1-0497-973E-8A1D-B2DCB46C016E}"/>
              </a:ext>
            </a:extLst>
          </p:cNvPr>
          <p:cNvSpPr/>
          <p:nvPr/>
        </p:nvSpPr>
        <p:spPr>
          <a:xfrm>
            <a:off x="700396" y="6296002"/>
            <a:ext cx="7230893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0EDA812-FA72-5B01-D237-0A8E0CEAB68A}"/>
              </a:ext>
            </a:extLst>
          </p:cNvPr>
          <p:cNvGrpSpPr/>
          <p:nvPr/>
        </p:nvGrpSpPr>
        <p:grpSpPr>
          <a:xfrm>
            <a:off x="1759694" y="4031386"/>
            <a:ext cx="1738011" cy="467324"/>
            <a:chOff x="2853443" y="4030229"/>
            <a:chExt cx="1738011" cy="467324"/>
          </a:xfrm>
        </p:grpSpPr>
        <p:sp>
          <p:nvSpPr>
            <p:cNvPr id="9" name="Trapezoid 8">
              <a:extLst>
                <a:ext uri="{FF2B5EF4-FFF2-40B4-BE49-F238E27FC236}">
                  <a16:creationId xmlns:a16="http://schemas.microsoft.com/office/drawing/2014/main" id="{45F138BD-75E5-78CB-B4F5-9FEE0CC9CCBD}"/>
                </a:ext>
              </a:extLst>
            </p:cNvPr>
            <p:cNvSpPr/>
            <p:nvPr/>
          </p:nvSpPr>
          <p:spPr>
            <a:xfrm>
              <a:off x="2853443" y="4030229"/>
              <a:ext cx="1738011" cy="467324"/>
            </a:xfrm>
            <a:prstGeom prst="trapezoid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1E50F2A-7693-575B-C767-9C91D88B3D29}"/>
                </a:ext>
              </a:extLst>
            </p:cNvPr>
            <p:cNvSpPr txBox="1"/>
            <p:nvPr/>
          </p:nvSpPr>
          <p:spPr>
            <a:xfrm>
              <a:off x="3320368" y="4049684"/>
              <a:ext cx="10856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Anode*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A4D852E-262B-B390-607D-E8838B6574D0}"/>
              </a:ext>
            </a:extLst>
          </p:cNvPr>
          <p:cNvSpPr txBox="1"/>
          <p:nvPr/>
        </p:nvSpPr>
        <p:spPr>
          <a:xfrm>
            <a:off x="1436744" y="6003853"/>
            <a:ext cx="5966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Molten Aluminum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9CD828-B54A-D5A4-948A-A33FAC02FA7A}"/>
              </a:ext>
            </a:extLst>
          </p:cNvPr>
          <p:cNvSpPr txBox="1"/>
          <p:nvPr/>
        </p:nvSpPr>
        <p:spPr>
          <a:xfrm>
            <a:off x="2290257" y="3642685"/>
            <a:ext cx="3910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Copper Clamp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B48D27F-09FA-F69F-82EA-05421034594D}"/>
              </a:ext>
            </a:extLst>
          </p:cNvPr>
          <p:cNvGrpSpPr/>
          <p:nvPr/>
        </p:nvGrpSpPr>
        <p:grpSpPr>
          <a:xfrm>
            <a:off x="7233597" y="6300128"/>
            <a:ext cx="713577" cy="365206"/>
            <a:chOff x="7408692" y="6300128"/>
            <a:chExt cx="713577" cy="365206"/>
          </a:xfrm>
        </p:grpSpPr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4FEF6BB5-9FE4-DB24-E549-2C87515BA686}"/>
                </a:ext>
              </a:extLst>
            </p:cNvPr>
            <p:cNvSpPr/>
            <p:nvPr/>
          </p:nvSpPr>
          <p:spPr>
            <a:xfrm rot="10800000" flipH="1">
              <a:off x="7408692" y="6300128"/>
              <a:ext cx="713577" cy="365206"/>
            </a:xfrm>
            <a:prstGeom prst="parallelogram">
              <a:avLst>
                <a:gd name="adj" fmla="val 7504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82977D1-E95E-5756-EC26-457760E272D0}"/>
                </a:ext>
              </a:extLst>
            </p:cNvPr>
            <p:cNvCxnSpPr>
              <a:cxnSpLocks/>
            </p:cNvCxnSpPr>
            <p:nvPr/>
          </p:nvCxnSpPr>
          <p:spPr>
            <a:xfrm>
              <a:off x="7696778" y="6406129"/>
              <a:ext cx="132067" cy="1799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DA77CA9-3CBC-7F65-1B7F-B4DFD4343EB6}"/>
              </a:ext>
            </a:extLst>
          </p:cNvPr>
          <p:cNvGrpSpPr/>
          <p:nvPr/>
        </p:nvGrpSpPr>
        <p:grpSpPr>
          <a:xfrm>
            <a:off x="5064865" y="4026989"/>
            <a:ext cx="1738011" cy="467324"/>
            <a:chOff x="2853443" y="4030229"/>
            <a:chExt cx="1738011" cy="467324"/>
          </a:xfrm>
        </p:grpSpPr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99E6A45B-8DBC-7125-9898-3026FEC7F752}"/>
                </a:ext>
              </a:extLst>
            </p:cNvPr>
            <p:cNvSpPr/>
            <p:nvPr/>
          </p:nvSpPr>
          <p:spPr>
            <a:xfrm>
              <a:off x="2853443" y="4030229"/>
              <a:ext cx="1738011" cy="467324"/>
            </a:xfrm>
            <a:prstGeom prst="trapezoid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1985D9F-D9F3-E485-BC51-320ADC46B61A}"/>
                </a:ext>
              </a:extLst>
            </p:cNvPr>
            <p:cNvSpPr txBox="1"/>
            <p:nvPr/>
          </p:nvSpPr>
          <p:spPr>
            <a:xfrm>
              <a:off x="3320369" y="4049684"/>
              <a:ext cx="9778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Anode*</a:t>
              </a:r>
            </a:p>
          </p:txBody>
        </p:sp>
      </p:grpSp>
      <p:sp>
        <p:nvSpPr>
          <p:cNvPr id="23" name="Subtitle 2">
            <a:extLst>
              <a:ext uri="{FF2B5EF4-FFF2-40B4-BE49-F238E27FC236}">
                <a16:creationId xmlns:a16="http://schemas.microsoft.com/office/drawing/2014/main" id="{B8D37D97-25CF-D5CB-F8BA-428F3B5F237F}"/>
              </a:ext>
            </a:extLst>
          </p:cNvPr>
          <p:cNvSpPr txBox="1">
            <a:spLocks/>
          </p:cNvSpPr>
          <p:nvPr/>
        </p:nvSpPr>
        <p:spPr>
          <a:xfrm>
            <a:off x="7233596" y="2573138"/>
            <a:ext cx="5139985" cy="7884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700" dirty="0"/>
              <a:t>Charles Hall only had John Dalton’s atomic model and theories and Micheal Faraday’s idea that atoms were related to electricity.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0950E1-2DCF-A728-EF2E-506D535D737C}"/>
              </a:ext>
            </a:extLst>
          </p:cNvPr>
          <p:cNvSpPr txBox="1"/>
          <p:nvPr/>
        </p:nvSpPr>
        <p:spPr>
          <a:xfrm>
            <a:off x="2360582" y="6319647"/>
            <a:ext cx="3910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Steel Sheet*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9FAB63A-8754-2F2F-3277-B0723A87116A}"/>
              </a:ext>
            </a:extLst>
          </p:cNvPr>
          <p:cNvCxnSpPr>
            <a:cxnSpLocks/>
          </p:cNvCxnSpPr>
          <p:nvPr/>
        </p:nvCxnSpPr>
        <p:spPr>
          <a:xfrm flipH="1">
            <a:off x="469042" y="5486389"/>
            <a:ext cx="189491" cy="344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F87D2EB-74ED-EA7C-11BB-AC5FE3F46FEA}"/>
              </a:ext>
            </a:extLst>
          </p:cNvPr>
          <p:cNvSpPr txBox="1"/>
          <p:nvPr/>
        </p:nvSpPr>
        <p:spPr>
          <a:xfrm>
            <a:off x="341238" y="5149400"/>
            <a:ext cx="179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Electrolytic Cell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82FDF47-609B-787E-B8EB-B8DD8A618826}"/>
              </a:ext>
            </a:extLst>
          </p:cNvPr>
          <p:cNvGrpSpPr/>
          <p:nvPr/>
        </p:nvGrpSpPr>
        <p:grpSpPr>
          <a:xfrm flipH="1">
            <a:off x="1414646" y="4211663"/>
            <a:ext cx="287352" cy="196259"/>
            <a:chOff x="7096057" y="4231110"/>
            <a:chExt cx="217792" cy="22580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F3632FE-31D0-67C1-E74A-B192D57061BB}"/>
                </a:ext>
              </a:extLst>
            </p:cNvPr>
            <p:cNvSpPr/>
            <p:nvPr/>
          </p:nvSpPr>
          <p:spPr>
            <a:xfrm>
              <a:off x="7096057" y="4231110"/>
              <a:ext cx="217792" cy="2258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Plus Sign 41">
              <a:extLst>
                <a:ext uri="{FF2B5EF4-FFF2-40B4-BE49-F238E27FC236}">
                  <a16:creationId xmlns:a16="http://schemas.microsoft.com/office/drawing/2014/main" id="{6BB2CD2B-5102-E78B-3E50-C6D3675E8C0E}"/>
                </a:ext>
              </a:extLst>
            </p:cNvPr>
            <p:cNvSpPr/>
            <p:nvPr/>
          </p:nvSpPr>
          <p:spPr>
            <a:xfrm>
              <a:off x="7130180" y="4260651"/>
              <a:ext cx="155642" cy="155125"/>
            </a:xfrm>
            <a:prstGeom prst="mathPlu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980615D-458D-DB4A-6742-22EA172A219D}"/>
              </a:ext>
            </a:extLst>
          </p:cNvPr>
          <p:cNvGrpSpPr/>
          <p:nvPr/>
        </p:nvGrpSpPr>
        <p:grpSpPr>
          <a:xfrm flipH="1">
            <a:off x="6879957" y="4203678"/>
            <a:ext cx="287352" cy="196259"/>
            <a:chOff x="7096057" y="4231110"/>
            <a:chExt cx="217792" cy="22580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36F363C-F933-A1ED-7EC1-8B25AFEC31A7}"/>
                </a:ext>
              </a:extLst>
            </p:cNvPr>
            <p:cNvSpPr/>
            <p:nvPr/>
          </p:nvSpPr>
          <p:spPr>
            <a:xfrm>
              <a:off x="7096057" y="4231110"/>
              <a:ext cx="217792" cy="2258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Plus Sign 44">
              <a:extLst>
                <a:ext uri="{FF2B5EF4-FFF2-40B4-BE49-F238E27FC236}">
                  <a16:creationId xmlns:a16="http://schemas.microsoft.com/office/drawing/2014/main" id="{C7291D45-DE6C-1014-5822-D567615FE220}"/>
                </a:ext>
              </a:extLst>
            </p:cNvPr>
            <p:cNvSpPr/>
            <p:nvPr/>
          </p:nvSpPr>
          <p:spPr>
            <a:xfrm>
              <a:off x="7130180" y="4260651"/>
              <a:ext cx="155642" cy="155125"/>
            </a:xfrm>
            <a:prstGeom prst="mathPlu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7E69640-4EF7-91EB-2666-5AAF64257FF0}"/>
              </a:ext>
            </a:extLst>
          </p:cNvPr>
          <p:cNvGrpSpPr/>
          <p:nvPr/>
        </p:nvGrpSpPr>
        <p:grpSpPr>
          <a:xfrm>
            <a:off x="507055" y="6070202"/>
            <a:ext cx="287352" cy="193876"/>
            <a:chOff x="8670471" y="4304754"/>
            <a:chExt cx="287352" cy="193876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F422C31-6A76-CEBE-E6AC-2B51C89D6C0E}"/>
                </a:ext>
              </a:extLst>
            </p:cNvPr>
            <p:cNvSpPr/>
            <p:nvPr/>
          </p:nvSpPr>
          <p:spPr>
            <a:xfrm>
              <a:off x="8670471" y="4304754"/>
              <a:ext cx="287352" cy="189559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Minus Sign 46">
              <a:extLst>
                <a:ext uri="{FF2B5EF4-FFF2-40B4-BE49-F238E27FC236}">
                  <a16:creationId xmlns:a16="http://schemas.microsoft.com/office/drawing/2014/main" id="{21446AD4-8963-BB5C-D003-3A9E7F93E816}"/>
                </a:ext>
              </a:extLst>
            </p:cNvPr>
            <p:cNvSpPr/>
            <p:nvPr/>
          </p:nvSpPr>
          <p:spPr>
            <a:xfrm>
              <a:off x="8748833" y="4309071"/>
              <a:ext cx="155643" cy="18955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5AAEEB6-8B88-3C7F-1A16-D4BDE643A465}"/>
              </a:ext>
            </a:extLst>
          </p:cNvPr>
          <p:cNvGrpSpPr/>
          <p:nvPr/>
        </p:nvGrpSpPr>
        <p:grpSpPr>
          <a:xfrm>
            <a:off x="7871078" y="6086164"/>
            <a:ext cx="287352" cy="193876"/>
            <a:chOff x="8670471" y="4304754"/>
            <a:chExt cx="287352" cy="193876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B171DF9-AE9C-487F-6ECC-06832B017185}"/>
                </a:ext>
              </a:extLst>
            </p:cNvPr>
            <p:cNvSpPr/>
            <p:nvPr/>
          </p:nvSpPr>
          <p:spPr>
            <a:xfrm>
              <a:off x="8670471" y="4304754"/>
              <a:ext cx="287352" cy="189559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Minus Sign 50">
              <a:extLst>
                <a:ext uri="{FF2B5EF4-FFF2-40B4-BE49-F238E27FC236}">
                  <a16:creationId xmlns:a16="http://schemas.microsoft.com/office/drawing/2014/main" id="{32AC872C-14FA-438E-C420-4349273F783E}"/>
                </a:ext>
              </a:extLst>
            </p:cNvPr>
            <p:cNvSpPr/>
            <p:nvPr/>
          </p:nvSpPr>
          <p:spPr>
            <a:xfrm>
              <a:off x="8748833" y="4309071"/>
              <a:ext cx="155643" cy="18955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Speech Bubble: Oval 55">
            <a:extLst>
              <a:ext uri="{FF2B5EF4-FFF2-40B4-BE49-F238E27FC236}">
                <a16:creationId xmlns:a16="http://schemas.microsoft.com/office/drawing/2014/main" id="{88757B6B-C367-FEF2-3727-3B1A3E6C4134}"/>
              </a:ext>
            </a:extLst>
          </p:cNvPr>
          <p:cNvSpPr/>
          <p:nvPr/>
        </p:nvSpPr>
        <p:spPr>
          <a:xfrm rot="2785885">
            <a:off x="8042885" y="4313856"/>
            <a:ext cx="2299470" cy="2176775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04AE6A-7F22-12D7-6D0B-BAD06FB17B8A}"/>
              </a:ext>
            </a:extLst>
          </p:cNvPr>
          <p:cNvSpPr txBox="1"/>
          <p:nvPr/>
        </p:nvSpPr>
        <p:spPr>
          <a:xfrm>
            <a:off x="8449780" y="4714786"/>
            <a:ext cx="10060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Vijaya" panose="020B0502040204020203" pitchFamily="18" charset="0"/>
                <a:cs typeface="Vijaya" panose="020B0502040204020203" pitchFamily="18" charset="0"/>
              </a:rPr>
              <a:t>Al O</a:t>
            </a:r>
            <a:r>
              <a:rPr lang="en-US" dirty="0">
                <a:latin typeface="Vijaya" panose="020B0502040204020203" pitchFamily="18" charset="0"/>
                <a:cs typeface="Vijaya" panose="020B0502040204020203" pitchFamily="18" charset="0"/>
              </a:rPr>
              <a:t>2</a:t>
            </a:r>
            <a:endParaRPr lang="en-US" sz="3200" dirty="0">
              <a:latin typeface="Vijaya" panose="020B0502040204020203" pitchFamily="18" charset="0"/>
              <a:cs typeface="Vijaya" panose="020B0502040204020203" pitchFamily="18" charset="0"/>
            </a:endParaRPr>
          </a:p>
        </p:txBody>
      </p:sp>
      <p:sp>
        <p:nvSpPr>
          <p:cNvPr id="60" name="Arrow: Circular 59">
            <a:extLst>
              <a:ext uri="{FF2B5EF4-FFF2-40B4-BE49-F238E27FC236}">
                <a16:creationId xmlns:a16="http://schemas.microsoft.com/office/drawing/2014/main" id="{32C7800F-2714-7B74-6A45-3FAF80AF23A4}"/>
              </a:ext>
            </a:extLst>
          </p:cNvPr>
          <p:cNvSpPr/>
          <p:nvPr/>
        </p:nvSpPr>
        <p:spPr>
          <a:xfrm rot="3439465">
            <a:off x="9161231" y="4857847"/>
            <a:ext cx="958699" cy="824006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410BA79-9404-F51B-F9A3-31CEE5109DEC}"/>
              </a:ext>
            </a:extLst>
          </p:cNvPr>
          <p:cNvSpPr txBox="1"/>
          <p:nvPr/>
        </p:nvSpPr>
        <p:spPr>
          <a:xfrm>
            <a:off x="8808420" y="5271859"/>
            <a:ext cx="9759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Vijaya" panose="02020604020202020204" pitchFamily="18" charset="0"/>
                <a:cs typeface="Vijaya" panose="02020604020202020204" pitchFamily="18" charset="0"/>
              </a:rPr>
              <a:t>Al + CO</a:t>
            </a:r>
            <a:r>
              <a:rPr lang="en-US" dirty="0">
                <a:latin typeface="Vijaya" panose="02020604020202020204" pitchFamily="18" charset="0"/>
                <a:cs typeface="Vijaya" panose="02020604020202020204" pitchFamily="18" charset="0"/>
              </a:rPr>
              <a:t>2</a:t>
            </a:r>
            <a:endParaRPr lang="en-US" sz="3600" dirty="0">
              <a:latin typeface="Vijaya" panose="02020604020202020204" pitchFamily="18" charset="0"/>
              <a:cs typeface="Vijaya" panose="02020604020202020204" pitchFamily="18" charset="0"/>
            </a:endParaRPr>
          </a:p>
        </p:txBody>
      </p:sp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8C1FEE31-502B-A871-5739-E47714B5C6C7}"/>
              </a:ext>
            </a:extLst>
          </p:cNvPr>
          <p:cNvGrpSpPr/>
          <p:nvPr/>
        </p:nvGrpSpPr>
        <p:grpSpPr>
          <a:xfrm>
            <a:off x="7181015" y="990874"/>
            <a:ext cx="838175" cy="789825"/>
            <a:chOff x="7611605" y="953311"/>
            <a:chExt cx="838175" cy="789825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F88EB1F-E331-D51E-F67C-0EEC9C695A4C}"/>
                </a:ext>
              </a:extLst>
            </p:cNvPr>
            <p:cNvSpPr/>
            <p:nvPr/>
          </p:nvSpPr>
          <p:spPr>
            <a:xfrm>
              <a:off x="7611605" y="953311"/>
              <a:ext cx="838175" cy="789825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9F29837-AA66-8E4B-2714-7059DD3E5480}"/>
                </a:ext>
              </a:extLst>
            </p:cNvPr>
            <p:cNvSpPr txBox="1"/>
            <p:nvPr/>
          </p:nvSpPr>
          <p:spPr>
            <a:xfrm>
              <a:off x="7801586" y="1077437"/>
              <a:ext cx="4617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atin typeface="Vijaya" panose="02020604020202020204" pitchFamily="18" charset="0"/>
                  <a:cs typeface="Vijaya" panose="02020604020202020204" pitchFamily="18" charset="0"/>
                </a:rPr>
                <a:t>O</a:t>
              </a:r>
            </a:p>
          </p:txBody>
        </p:sp>
      </p:grpSp>
      <p:sp>
        <p:nvSpPr>
          <p:cNvPr id="1024" name="Plus Sign 1023">
            <a:extLst>
              <a:ext uri="{FF2B5EF4-FFF2-40B4-BE49-F238E27FC236}">
                <a16:creationId xmlns:a16="http://schemas.microsoft.com/office/drawing/2014/main" id="{12F6FA38-78D0-39A0-7632-0E80F4E310E9}"/>
              </a:ext>
            </a:extLst>
          </p:cNvPr>
          <p:cNvSpPr/>
          <p:nvPr/>
        </p:nvSpPr>
        <p:spPr>
          <a:xfrm>
            <a:off x="8073235" y="1114999"/>
            <a:ext cx="614440" cy="584775"/>
          </a:xfrm>
          <a:prstGeom prst="mathPlus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C7BDBC0E-7C99-F3C2-60B9-C935B8AE1350}"/>
              </a:ext>
            </a:extLst>
          </p:cNvPr>
          <p:cNvGrpSpPr/>
          <p:nvPr/>
        </p:nvGrpSpPr>
        <p:grpSpPr>
          <a:xfrm>
            <a:off x="10849003" y="986515"/>
            <a:ext cx="838175" cy="789825"/>
            <a:chOff x="7611605" y="953311"/>
            <a:chExt cx="838175" cy="789825"/>
          </a:xfrm>
        </p:grpSpPr>
        <p:sp>
          <p:nvSpPr>
            <p:cNvPr id="1030" name="Oval 1029">
              <a:extLst>
                <a:ext uri="{FF2B5EF4-FFF2-40B4-BE49-F238E27FC236}">
                  <a16:creationId xmlns:a16="http://schemas.microsoft.com/office/drawing/2014/main" id="{D06F4BAE-C51A-1450-C557-586542CAB4DE}"/>
                </a:ext>
              </a:extLst>
            </p:cNvPr>
            <p:cNvSpPr/>
            <p:nvPr/>
          </p:nvSpPr>
          <p:spPr>
            <a:xfrm>
              <a:off x="7611605" y="953311"/>
              <a:ext cx="838175" cy="789825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1" name="TextBox 1030">
              <a:extLst>
                <a:ext uri="{FF2B5EF4-FFF2-40B4-BE49-F238E27FC236}">
                  <a16:creationId xmlns:a16="http://schemas.microsoft.com/office/drawing/2014/main" id="{61994897-C8E3-E0C9-E1D3-2CA74C57B009}"/>
                </a:ext>
              </a:extLst>
            </p:cNvPr>
            <p:cNvSpPr txBox="1"/>
            <p:nvPr/>
          </p:nvSpPr>
          <p:spPr>
            <a:xfrm>
              <a:off x="7801586" y="1077437"/>
              <a:ext cx="4617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atin typeface="Vijaya" panose="02020604020202020204" pitchFamily="18" charset="0"/>
                  <a:cs typeface="Vijaya" panose="02020604020202020204" pitchFamily="18" charset="0"/>
                </a:rPr>
                <a:t>O</a:t>
              </a:r>
            </a:p>
          </p:txBody>
        </p:sp>
      </p:grp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1F3406B5-62E2-A11F-D663-52963AA54017}"/>
              </a:ext>
            </a:extLst>
          </p:cNvPr>
          <p:cNvGrpSpPr/>
          <p:nvPr/>
        </p:nvGrpSpPr>
        <p:grpSpPr>
          <a:xfrm>
            <a:off x="11397894" y="1592169"/>
            <a:ext cx="461786" cy="416407"/>
            <a:chOff x="10773635" y="1839614"/>
            <a:chExt cx="461786" cy="416407"/>
          </a:xfrm>
        </p:grpSpPr>
        <p:sp>
          <p:nvSpPr>
            <p:cNvPr id="1032" name="Oval 1031">
              <a:extLst>
                <a:ext uri="{FF2B5EF4-FFF2-40B4-BE49-F238E27FC236}">
                  <a16:creationId xmlns:a16="http://schemas.microsoft.com/office/drawing/2014/main" id="{9D01D87F-F6F3-D880-A6F8-10C1717A4B64}"/>
                </a:ext>
              </a:extLst>
            </p:cNvPr>
            <p:cNvSpPr/>
            <p:nvPr/>
          </p:nvSpPr>
          <p:spPr>
            <a:xfrm>
              <a:off x="10773635" y="1839614"/>
              <a:ext cx="461786" cy="4164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TextBox 1032">
              <a:extLst>
                <a:ext uri="{FF2B5EF4-FFF2-40B4-BE49-F238E27FC236}">
                  <a16:creationId xmlns:a16="http://schemas.microsoft.com/office/drawing/2014/main" id="{4BEE6A39-8F09-E96D-9A31-B9D3C0C0DBCA}"/>
                </a:ext>
              </a:extLst>
            </p:cNvPr>
            <p:cNvSpPr txBox="1"/>
            <p:nvPr/>
          </p:nvSpPr>
          <p:spPr>
            <a:xfrm>
              <a:off x="10857412" y="1886689"/>
              <a:ext cx="378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7586E810-A8FB-A746-465D-A67E6B2FC0C5}"/>
              </a:ext>
            </a:extLst>
          </p:cNvPr>
          <p:cNvGrpSpPr/>
          <p:nvPr/>
        </p:nvGrpSpPr>
        <p:grpSpPr>
          <a:xfrm>
            <a:off x="10607114" y="1592169"/>
            <a:ext cx="471183" cy="416407"/>
            <a:chOff x="10773635" y="1839614"/>
            <a:chExt cx="471183" cy="416407"/>
          </a:xfrm>
        </p:grpSpPr>
        <p:sp>
          <p:nvSpPr>
            <p:cNvPr id="1036" name="Oval 1035">
              <a:extLst>
                <a:ext uri="{FF2B5EF4-FFF2-40B4-BE49-F238E27FC236}">
                  <a16:creationId xmlns:a16="http://schemas.microsoft.com/office/drawing/2014/main" id="{64B75F67-A2D8-278D-8072-D5204E4D7C92}"/>
                </a:ext>
              </a:extLst>
            </p:cNvPr>
            <p:cNvSpPr/>
            <p:nvPr/>
          </p:nvSpPr>
          <p:spPr>
            <a:xfrm>
              <a:off x="10773635" y="1839614"/>
              <a:ext cx="461786" cy="4164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TextBox 1036">
              <a:extLst>
                <a:ext uri="{FF2B5EF4-FFF2-40B4-BE49-F238E27FC236}">
                  <a16:creationId xmlns:a16="http://schemas.microsoft.com/office/drawing/2014/main" id="{E1B431E9-A448-1CBF-4697-6393FED59278}"/>
                </a:ext>
              </a:extLst>
            </p:cNvPr>
            <p:cNvSpPr txBox="1"/>
            <p:nvPr/>
          </p:nvSpPr>
          <p:spPr>
            <a:xfrm>
              <a:off x="10866809" y="1886689"/>
              <a:ext cx="378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</p:grpSp>
      <p:sp>
        <p:nvSpPr>
          <p:cNvPr id="1038" name="Equals 1037">
            <a:extLst>
              <a:ext uri="{FF2B5EF4-FFF2-40B4-BE49-F238E27FC236}">
                <a16:creationId xmlns:a16="http://schemas.microsoft.com/office/drawing/2014/main" id="{CD5A9612-6C44-EDC7-20EB-597C8D7A99FD}"/>
              </a:ext>
            </a:extLst>
          </p:cNvPr>
          <p:cNvSpPr/>
          <p:nvPr/>
        </p:nvSpPr>
        <p:spPr>
          <a:xfrm>
            <a:off x="10064074" y="1104751"/>
            <a:ext cx="614440" cy="584774"/>
          </a:xfrm>
          <a:prstGeom prst="mathEqual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68337A73-5B92-8704-2204-EC8EA7E7DF33}"/>
              </a:ext>
            </a:extLst>
          </p:cNvPr>
          <p:cNvGrpSpPr/>
          <p:nvPr/>
        </p:nvGrpSpPr>
        <p:grpSpPr>
          <a:xfrm>
            <a:off x="8972310" y="1102688"/>
            <a:ext cx="461786" cy="416407"/>
            <a:chOff x="10773635" y="1839614"/>
            <a:chExt cx="461786" cy="416407"/>
          </a:xfrm>
        </p:grpSpPr>
        <p:sp>
          <p:nvSpPr>
            <p:cNvPr id="1040" name="Oval 1039">
              <a:extLst>
                <a:ext uri="{FF2B5EF4-FFF2-40B4-BE49-F238E27FC236}">
                  <a16:creationId xmlns:a16="http://schemas.microsoft.com/office/drawing/2014/main" id="{6D2CD4AC-C5E5-B3CF-0A42-0ABE9993EB7D}"/>
                </a:ext>
              </a:extLst>
            </p:cNvPr>
            <p:cNvSpPr/>
            <p:nvPr/>
          </p:nvSpPr>
          <p:spPr>
            <a:xfrm>
              <a:off x="10773635" y="1839614"/>
              <a:ext cx="461786" cy="4164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1" name="TextBox 1040">
              <a:extLst>
                <a:ext uri="{FF2B5EF4-FFF2-40B4-BE49-F238E27FC236}">
                  <a16:creationId xmlns:a16="http://schemas.microsoft.com/office/drawing/2014/main" id="{20F77256-8A82-12B0-3886-995C64F35E0D}"/>
                </a:ext>
              </a:extLst>
            </p:cNvPr>
            <p:cNvSpPr txBox="1"/>
            <p:nvPr/>
          </p:nvSpPr>
          <p:spPr>
            <a:xfrm>
              <a:off x="10857412" y="1886689"/>
              <a:ext cx="378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DF61633C-BBBB-E299-E290-C73D776EBC7B}"/>
              </a:ext>
            </a:extLst>
          </p:cNvPr>
          <p:cNvGrpSpPr/>
          <p:nvPr/>
        </p:nvGrpSpPr>
        <p:grpSpPr>
          <a:xfrm>
            <a:off x="9329507" y="1331224"/>
            <a:ext cx="461786" cy="416407"/>
            <a:chOff x="10773635" y="1839614"/>
            <a:chExt cx="461786" cy="416407"/>
          </a:xfrm>
        </p:grpSpPr>
        <p:sp>
          <p:nvSpPr>
            <p:cNvPr id="1043" name="Oval 1042">
              <a:extLst>
                <a:ext uri="{FF2B5EF4-FFF2-40B4-BE49-F238E27FC236}">
                  <a16:creationId xmlns:a16="http://schemas.microsoft.com/office/drawing/2014/main" id="{1E020060-9D53-2E4B-8972-3CCA4577E920}"/>
                </a:ext>
              </a:extLst>
            </p:cNvPr>
            <p:cNvSpPr/>
            <p:nvPr/>
          </p:nvSpPr>
          <p:spPr>
            <a:xfrm>
              <a:off x="10773635" y="1839614"/>
              <a:ext cx="461786" cy="4164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4" name="TextBox 1043">
              <a:extLst>
                <a:ext uri="{FF2B5EF4-FFF2-40B4-BE49-F238E27FC236}">
                  <a16:creationId xmlns:a16="http://schemas.microsoft.com/office/drawing/2014/main" id="{D26CE17E-02F4-E78B-72CA-BAF7ACDCDEBD}"/>
                </a:ext>
              </a:extLst>
            </p:cNvPr>
            <p:cNvSpPr txBox="1"/>
            <p:nvPr/>
          </p:nvSpPr>
          <p:spPr>
            <a:xfrm>
              <a:off x="10857412" y="1886689"/>
              <a:ext cx="378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</p:grpSp>
      <p:sp>
        <p:nvSpPr>
          <p:cNvPr id="1045" name="TextBox 1044">
            <a:extLst>
              <a:ext uri="{FF2B5EF4-FFF2-40B4-BE49-F238E27FC236}">
                <a16:creationId xmlns:a16="http://schemas.microsoft.com/office/drawing/2014/main" id="{33041067-E478-598D-082C-8E0CE5AE4026}"/>
              </a:ext>
            </a:extLst>
          </p:cNvPr>
          <p:cNvSpPr txBox="1"/>
          <p:nvPr/>
        </p:nvSpPr>
        <p:spPr>
          <a:xfrm>
            <a:off x="7167309" y="2022343"/>
            <a:ext cx="11099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cs typeface="Vijaya" panose="02020604020202020204" pitchFamily="18" charset="0"/>
              </a:rPr>
              <a:t>Oxygen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82B7A222-13EE-AD05-C7E1-931730B4C483}"/>
              </a:ext>
            </a:extLst>
          </p:cNvPr>
          <p:cNvSpPr txBox="1"/>
          <p:nvPr/>
        </p:nvSpPr>
        <p:spPr>
          <a:xfrm>
            <a:off x="8277356" y="2026740"/>
            <a:ext cx="17619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cs typeface="Vijaya" panose="02020604020202020204" pitchFamily="18" charset="0"/>
              </a:rPr>
              <a:t>Two Hydrogen 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E0F3E440-9B69-B81D-70ED-F49A551082E6}"/>
              </a:ext>
            </a:extLst>
          </p:cNvPr>
          <p:cNvSpPr txBox="1"/>
          <p:nvPr/>
        </p:nvSpPr>
        <p:spPr>
          <a:xfrm>
            <a:off x="10212125" y="2026740"/>
            <a:ext cx="2111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cs typeface="Vijaya" panose="02020604020202020204" pitchFamily="18" charset="0"/>
              </a:rPr>
              <a:t>Water Molecule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0A6900F3-E7ED-034E-4D98-D4F4074B36DE}"/>
              </a:ext>
            </a:extLst>
          </p:cNvPr>
          <p:cNvSpPr txBox="1"/>
          <p:nvPr/>
        </p:nvSpPr>
        <p:spPr>
          <a:xfrm>
            <a:off x="10838007" y="5911520"/>
            <a:ext cx="16087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Syona Negi</a:t>
            </a:r>
          </a:p>
          <a:p>
            <a:r>
              <a:rPr lang="en-US" dirty="0"/>
              <a:t>Grade 9</a:t>
            </a:r>
          </a:p>
          <a:p>
            <a:r>
              <a:rPr lang="en-US" dirty="0"/>
              <a:t>1B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A2BD4AD7-80A4-B202-5219-A7347BF9487E}"/>
              </a:ext>
            </a:extLst>
          </p:cNvPr>
          <p:cNvSpPr txBox="1"/>
          <p:nvPr/>
        </p:nvSpPr>
        <p:spPr>
          <a:xfrm>
            <a:off x="8952804" y="3642685"/>
            <a:ext cx="2800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*Acts as Anode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F09A783A-5B77-C77B-B0F3-0AE1E1E64A35}"/>
              </a:ext>
            </a:extLst>
          </p:cNvPr>
          <p:cNvSpPr txBox="1"/>
          <p:nvPr/>
        </p:nvSpPr>
        <p:spPr>
          <a:xfrm>
            <a:off x="9739102" y="3945470"/>
            <a:ext cx="2800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*Carbon Lining acts as cathode</a:t>
            </a:r>
          </a:p>
        </p:txBody>
      </p:sp>
    </p:spTree>
    <p:extLst>
      <p:ext uri="{BB962C8B-B14F-4D97-AF65-F5344CB8AC3E}">
        <p14:creationId xmlns:p14="http://schemas.microsoft.com/office/powerpoint/2010/main" val="301235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7.40741E-7 L -0.00039 0.22824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141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3.7037E-6 L -0.00039 0.22824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141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16" presetClass="entr" presetSubtype="2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 tmFilter="0, 0; .2, .5; .8, .5; 1, 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500" autoRev="1" fill="hold"/>
                                        <p:tgtEl>
                                          <p:spTgt spid="10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 tmFilter="0, 0; .2, .5; .8, .5; 1, 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500" autoRev="1" fill="hold"/>
                                        <p:tgtEl>
                                          <p:spTgt spid="10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4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2.22222E-6 L 0.00052 0.16343 " pathEditMode="relative" rAng="0" ptsTypes="AA">
                                      <p:cBhvr>
                                        <p:cTn id="55" dur="100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81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/>
      <p:bldP spid="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32F731E-0C54-ED36-AE0D-B6FC59015A9E}"/>
              </a:ext>
            </a:extLst>
          </p:cNvPr>
          <p:cNvGrpSpPr/>
          <p:nvPr/>
        </p:nvGrpSpPr>
        <p:grpSpPr>
          <a:xfrm>
            <a:off x="813817" y="1901952"/>
            <a:ext cx="716403" cy="691958"/>
            <a:chOff x="-2392679" y="512064"/>
            <a:chExt cx="4297680" cy="442569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E2572A0-59C7-D05A-0470-63F4D23A642F}"/>
                </a:ext>
              </a:extLst>
            </p:cNvPr>
            <p:cNvSpPr/>
            <p:nvPr/>
          </p:nvSpPr>
          <p:spPr>
            <a:xfrm>
              <a:off x="-2392679" y="512064"/>
              <a:ext cx="4297680" cy="44256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Plus Sign 8">
              <a:extLst>
                <a:ext uri="{FF2B5EF4-FFF2-40B4-BE49-F238E27FC236}">
                  <a16:creationId xmlns:a16="http://schemas.microsoft.com/office/drawing/2014/main" id="{6EBD84FF-28BB-58CC-EE3A-78A66B3347D7}"/>
                </a:ext>
              </a:extLst>
            </p:cNvPr>
            <p:cNvSpPr/>
            <p:nvPr/>
          </p:nvSpPr>
          <p:spPr>
            <a:xfrm>
              <a:off x="-1554479" y="1316736"/>
              <a:ext cx="2621280" cy="2816352"/>
            </a:xfrm>
            <a:prstGeom prst="mathPl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6E0609-B914-BFB7-B6B9-7A3FA779E244}"/>
              </a:ext>
            </a:extLst>
          </p:cNvPr>
          <p:cNvGrpSpPr/>
          <p:nvPr/>
        </p:nvGrpSpPr>
        <p:grpSpPr>
          <a:xfrm>
            <a:off x="770274" y="642505"/>
            <a:ext cx="718892" cy="691957"/>
            <a:chOff x="5812537" y="64008"/>
            <a:chExt cx="4297680" cy="442569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0F847AB-CD60-EB03-A310-1121CB370FB2}"/>
                </a:ext>
              </a:extLst>
            </p:cNvPr>
            <p:cNvSpPr/>
            <p:nvPr/>
          </p:nvSpPr>
          <p:spPr>
            <a:xfrm>
              <a:off x="5812537" y="64008"/>
              <a:ext cx="4297680" cy="44256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Minus Sign 11">
              <a:extLst>
                <a:ext uri="{FF2B5EF4-FFF2-40B4-BE49-F238E27FC236}">
                  <a16:creationId xmlns:a16="http://schemas.microsoft.com/office/drawing/2014/main" id="{8F32A883-CA2F-A44A-DC57-F4444AB76B0C}"/>
                </a:ext>
              </a:extLst>
            </p:cNvPr>
            <p:cNvSpPr/>
            <p:nvPr/>
          </p:nvSpPr>
          <p:spPr>
            <a:xfrm>
              <a:off x="6711696" y="1449324"/>
              <a:ext cx="2633472" cy="1655064"/>
            </a:xfrm>
            <a:prstGeom prst="mathMin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118AE09-3BC3-172C-B8EA-0D6A3B9AF06D}"/>
              </a:ext>
            </a:extLst>
          </p:cNvPr>
          <p:cNvGrpSpPr/>
          <p:nvPr/>
        </p:nvGrpSpPr>
        <p:grpSpPr>
          <a:xfrm>
            <a:off x="2190876" y="507357"/>
            <a:ext cx="3494176" cy="1520406"/>
            <a:chOff x="4495926" y="2785877"/>
            <a:chExt cx="3494176" cy="152040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80E4178-2D8F-F551-19DB-A38DFDC8ACBB}"/>
                </a:ext>
              </a:extLst>
            </p:cNvPr>
            <p:cNvGrpSpPr/>
            <p:nvPr/>
          </p:nvGrpSpPr>
          <p:grpSpPr>
            <a:xfrm>
              <a:off x="4495926" y="3229228"/>
              <a:ext cx="542605" cy="436644"/>
              <a:chOff x="2743200" y="1773936"/>
              <a:chExt cx="4297680" cy="4425696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21E6ED5-614B-59CE-7FB4-58B70DD52CF4}"/>
                  </a:ext>
                </a:extLst>
              </p:cNvPr>
              <p:cNvSpPr/>
              <p:nvPr/>
            </p:nvSpPr>
            <p:spPr>
              <a:xfrm>
                <a:off x="2743200" y="1773936"/>
                <a:ext cx="4297680" cy="442569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Plus Sign 15">
                <a:extLst>
                  <a:ext uri="{FF2B5EF4-FFF2-40B4-BE49-F238E27FC236}">
                    <a16:creationId xmlns:a16="http://schemas.microsoft.com/office/drawing/2014/main" id="{2254D358-8A37-CD63-4479-8A0BE60B3A66}"/>
                  </a:ext>
                </a:extLst>
              </p:cNvPr>
              <p:cNvSpPr/>
              <p:nvPr/>
            </p:nvSpPr>
            <p:spPr>
              <a:xfrm>
                <a:off x="3581400" y="2578608"/>
                <a:ext cx="2621280" cy="2816352"/>
              </a:xfrm>
              <a:prstGeom prst="mathPlu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EE50997-C90C-0DBC-A68D-9B76A94FAB92}"/>
                </a:ext>
              </a:extLst>
            </p:cNvPr>
            <p:cNvGrpSpPr/>
            <p:nvPr/>
          </p:nvGrpSpPr>
          <p:grpSpPr>
            <a:xfrm>
              <a:off x="5038531" y="3586482"/>
              <a:ext cx="742995" cy="640412"/>
              <a:chOff x="2743200" y="1773936"/>
              <a:chExt cx="4297680" cy="4425696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4F83165-B80F-BAE9-4CF5-F9C961909C62}"/>
                  </a:ext>
                </a:extLst>
              </p:cNvPr>
              <p:cNvSpPr/>
              <p:nvPr/>
            </p:nvSpPr>
            <p:spPr>
              <a:xfrm>
                <a:off x="2743200" y="1773936"/>
                <a:ext cx="4297680" cy="442569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Plus Sign 18">
                <a:extLst>
                  <a:ext uri="{FF2B5EF4-FFF2-40B4-BE49-F238E27FC236}">
                    <a16:creationId xmlns:a16="http://schemas.microsoft.com/office/drawing/2014/main" id="{3CE9AB33-E69B-CE86-6E59-2B4D49363F31}"/>
                  </a:ext>
                </a:extLst>
              </p:cNvPr>
              <p:cNvSpPr/>
              <p:nvPr/>
            </p:nvSpPr>
            <p:spPr>
              <a:xfrm>
                <a:off x="3581400" y="2578608"/>
                <a:ext cx="2621280" cy="2816352"/>
              </a:xfrm>
              <a:prstGeom prst="mathPlu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711D43D-8434-109D-8C48-1FC1583D325A}"/>
                </a:ext>
              </a:extLst>
            </p:cNvPr>
            <p:cNvGrpSpPr/>
            <p:nvPr/>
          </p:nvGrpSpPr>
          <p:grpSpPr>
            <a:xfrm>
              <a:off x="6096000" y="3192128"/>
              <a:ext cx="742995" cy="590181"/>
              <a:chOff x="2743200" y="1773936"/>
              <a:chExt cx="4297680" cy="4425696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21EB91F-33FB-118F-59EE-F532B44B0FF9}"/>
                  </a:ext>
                </a:extLst>
              </p:cNvPr>
              <p:cNvSpPr/>
              <p:nvPr/>
            </p:nvSpPr>
            <p:spPr>
              <a:xfrm>
                <a:off x="2743200" y="1773936"/>
                <a:ext cx="4297680" cy="442569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Plus Sign 21">
                <a:extLst>
                  <a:ext uri="{FF2B5EF4-FFF2-40B4-BE49-F238E27FC236}">
                    <a16:creationId xmlns:a16="http://schemas.microsoft.com/office/drawing/2014/main" id="{12C9D62C-50DD-4C77-5D77-EFFADB370A0E}"/>
                  </a:ext>
                </a:extLst>
              </p:cNvPr>
              <p:cNvSpPr/>
              <p:nvPr/>
            </p:nvSpPr>
            <p:spPr>
              <a:xfrm>
                <a:off x="3581400" y="2578608"/>
                <a:ext cx="2621280" cy="2816352"/>
              </a:xfrm>
              <a:prstGeom prst="mathPlu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035AE0E-F22C-D021-11A1-CE945F7817C6}"/>
                </a:ext>
              </a:extLst>
            </p:cNvPr>
            <p:cNvGrpSpPr/>
            <p:nvPr/>
          </p:nvGrpSpPr>
          <p:grpSpPr>
            <a:xfrm>
              <a:off x="6634728" y="3665871"/>
              <a:ext cx="742995" cy="640412"/>
              <a:chOff x="2743200" y="1773936"/>
              <a:chExt cx="4297680" cy="4425696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C98F2514-0ABD-613C-18D2-202B5E6D8C60}"/>
                  </a:ext>
                </a:extLst>
              </p:cNvPr>
              <p:cNvSpPr/>
              <p:nvPr/>
            </p:nvSpPr>
            <p:spPr>
              <a:xfrm>
                <a:off x="2743200" y="1773936"/>
                <a:ext cx="4297680" cy="442569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Plus Sign 24">
                <a:extLst>
                  <a:ext uri="{FF2B5EF4-FFF2-40B4-BE49-F238E27FC236}">
                    <a16:creationId xmlns:a16="http://schemas.microsoft.com/office/drawing/2014/main" id="{E25F5A0F-36C7-A289-7EB8-BCB9E8F00F8C}"/>
                  </a:ext>
                </a:extLst>
              </p:cNvPr>
              <p:cNvSpPr/>
              <p:nvPr/>
            </p:nvSpPr>
            <p:spPr>
              <a:xfrm>
                <a:off x="3581400" y="2578608"/>
                <a:ext cx="2621280" cy="2816352"/>
              </a:xfrm>
              <a:prstGeom prst="mathPlu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0566D74-C77E-F66E-D122-3FA72E364B36}"/>
                </a:ext>
              </a:extLst>
            </p:cNvPr>
            <p:cNvGrpSpPr/>
            <p:nvPr/>
          </p:nvGrpSpPr>
          <p:grpSpPr>
            <a:xfrm>
              <a:off x="7247107" y="2785877"/>
              <a:ext cx="742995" cy="640412"/>
              <a:chOff x="2743200" y="1773936"/>
              <a:chExt cx="4297680" cy="4425696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2B25092A-913E-4206-54E7-9B7A659A5140}"/>
                  </a:ext>
                </a:extLst>
              </p:cNvPr>
              <p:cNvSpPr/>
              <p:nvPr/>
            </p:nvSpPr>
            <p:spPr>
              <a:xfrm>
                <a:off x="2743200" y="1773936"/>
                <a:ext cx="4297680" cy="442569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Plus Sign 27">
                <a:extLst>
                  <a:ext uri="{FF2B5EF4-FFF2-40B4-BE49-F238E27FC236}">
                    <a16:creationId xmlns:a16="http://schemas.microsoft.com/office/drawing/2014/main" id="{A0754ECC-F70B-D94A-7DF2-C2668DCBC95E}"/>
                  </a:ext>
                </a:extLst>
              </p:cNvPr>
              <p:cNvSpPr/>
              <p:nvPr/>
            </p:nvSpPr>
            <p:spPr>
              <a:xfrm>
                <a:off x="3581400" y="2578608"/>
                <a:ext cx="2621280" cy="2816352"/>
              </a:xfrm>
              <a:prstGeom prst="mathPlu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BE69133-F040-D360-05B2-3F0019193100}"/>
              </a:ext>
            </a:extLst>
          </p:cNvPr>
          <p:cNvSpPr txBox="1"/>
          <p:nvPr/>
        </p:nvSpPr>
        <p:spPr>
          <a:xfrm>
            <a:off x="813817" y="3181350"/>
            <a:ext cx="10844783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Citations:</a:t>
            </a:r>
          </a:p>
          <a:p>
            <a:r>
              <a:rPr lang="en-US" sz="2000" dirty="0"/>
              <a:t>Atomic Theory Timeline Democritus ~450 BC John Dalton 1803 Michael Faraday, September 23, 2025, https://www.sas.upenn.edu/~dbalmer/eportfolio/nature_timeline.pdf </a:t>
            </a:r>
          </a:p>
          <a:p>
            <a:endParaRPr lang="en-US" dirty="0"/>
          </a:p>
          <a:p>
            <a:r>
              <a:rPr lang="en-US" dirty="0"/>
              <a:t>Aluminum Electrolysis - an overview | ScienceDirect Topics, September 23, 2025, https://www.sciencedirect.com/topics/engineering/aluminum-electrolysis</a:t>
            </a:r>
          </a:p>
          <a:p>
            <a:endParaRPr lang="en-US" dirty="0"/>
          </a:p>
          <a:p>
            <a:r>
              <a:rPr lang="en-US" dirty="0"/>
              <a:t>What Is John Dalton's Atomic Model?, Universe Today, September 23, 2025, https://www.universetoday.com/articles/john-daltons-atomic-model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587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7AA85E7942F249A78E7378F848E913" ma:contentTypeVersion="4" ma:contentTypeDescription="Create a new document." ma:contentTypeScope="" ma:versionID="cc084131eb067a8f48a832ccf8b58160">
  <xsd:schema xmlns:xsd="http://www.w3.org/2001/XMLSchema" xmlns:xs="http://www.w3.org/2001/XMLSchema" xmlns:p="http://schemas.microsoft.com/office/2006/metadata/properties" xmlns:ns3="4d6f6fa5-3307-4669-b3e5-2de417ebd81b" targetNamespace="http://schemas.microsoft.com/office/2006/metadata/properties" ma:root="true" ma:fieldsID="360b31dba4be955a27f38e82a9e7e26c" ns3:_="">
    <xsd:import namespace="4d6f6fa5-3307-4669-b3e5-2de417ebd81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6f6fa5-3307-4669-b3e5-2de417ebd81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B5D2BA6-51E9-4502-AC65-27C92A3DBC4B}">
  <ds:schemaRefs>
    <ds:schemaRef ds:uri="http://schemas.microsoft.com/office/2006/documentManagement/types"/>
    <ds:schemaRef ds:uri="http://purl.org/dc/elements/1.1/"/>
    <ds:schemaRef ds:uri="http://www.w3.org/XML/1998/namespace"/>
    <ds:schemaRef ds:uri="4d6f6fa5-3307-4669-b3e5-2de417ebd81b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85DCBCC-4A66-4E5E-B47F-7E31567040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6f6fa5-3307-4669-b3e5-2de417ebd8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7EFBC67-441E-4B5B-BFF1-523FB14E2C3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202</Words>
  <Application>Microsoft Office PowerPoint</Application>
  <PresentationFormat>Widescreen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Vijaya</vt:lpstr>
      <vt:lpstr>Office Theme</vt:lpstr>
      <vt:lpstr>Charles Hall (1863-1914)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Syona Negi (Student)</dc:creator>
  <cp:lastModifiedBy>Syona Negi (Student)</cp:lastModifiedBy>
  <cp:revision>2</cp:revision>
  <dcterms:created xsi:type="dcterms:W3CDTF">2025-09-22T15:54:18Z</dcterms:created>
  <dcterms:modified xsi:type="dcterms:W3CDTF">2025-09-24T01:31:00Z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0x010100EA7AA85E7942F249A78E7378F848E913</vt:lpwstr>
  </property>
</Properties>
</file>